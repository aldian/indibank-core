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TIMING: 1.5 minutes</a:t>
            </a:r>
          </a:p>
          <a:p/>
          <a:p>
            <a:r>
              <a:t>🎙 TALKING SCRIPT:</a:t>
            </a:r>
          </a:p>
          <a:p>
            <a:r>
              <a:t>Good morning/afternoon everyone. Today I am presenting the IndiBank Core Transaction and Ledger Engine. This system represents an enterprise-grade core banking transaction and immutable general ledger platform designed from first principles for mission-critical digital banking, such as BI-FAST, instant interbank clearing, and intra-bank transfers. It integrates Java 21 with virtual threads, Apache Kafka in KRaft mode, Redis 7 for distributed concurrency guarding, and Oracle Database 23c as the ACID double-entry system of record, deployed live on Google Kubernetes Engine with zero-downtime Blue-Green pipelines.</a:t>
            </a:r>
          </a:p>
          <a:p/>
          <a:p>
            <a:r>
              <a:t>📌 KEY HIGHLIGHTS TO EMPHASIZE:</a:t>
            </a:r>
          </a:p>
          <a:p>
            <a:r>
              <a:t>- Enterprise banking focus (BI-FAST / RTGS / Core Ledger)</a:t>
            </a:r>
          </a:p>
          <a:p>
            <a:r>
              <a:t>- Strict integration of Java 21, Kafka, Redis, and Oracle DB 23c</a:t>
            </a:r>
          </a:p>
          <a:p>
            <a:r>
              <a:t>- Deployed live to public production with multi-cloud portability</a:t>
            </a:r>
          </a:p>
          <a:p/>
          <a:p>
            <a:r>
              <a:t>💡 ANTICIPATED TECHNICAL Q&amp;A:</a:t>
            </a:r>
          </a:p>
          <a:p>
            <a:r>
              <a:t>Q: Why did you build this system?</a:t>
            </a:r>
          </a:p>
          <a:p>
            <a:r>
              <a:t>A: To demonstrate how modern distributed architecture patterns solve the classic core banking challenges of double-spending, network retries, and ledger drift while maintaining sub-150ms settlement latency.</a:t>
            </a:r>
          </a:p>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TIMING: 2 minutes</a:t>
            </a:r>
          </a:p>
          <a:p/>
          <a:p>
            <a:r>
              <a:t>🎙 TALKING SCRIPT:</a:t>
            </a:r>
          </a:p>
          <a:p>
            <a:r>
              <a:t>In enterprise banking, availability cannot come at the expense of data integrity. In an e-commerce cart, an occasional retry might add a duplicate item. In core banking, a duplicate debit of Rp 50,000,000 is an immediate regulatory breach and financial loss. We identified three existential challenges: First, mobile network drops causing aggressive user retries. Second, concurrent payment requests draining the same account simultaneously, risking double spending. Third, ledger drift where balances are modified in-place without immutable audit trails. Our design enforces the core banking invariant: Consistency &gt; Latency &gt; Throughput. We never compromise balance invariance.</a:t>
            </a:r>
          </a:p>
          <a:p/>
          <a:p>
            <a:r>
              <a:t>📌 KEY HIGHLIGHTS TO EMPHASIZE:</a:t>
            </a:r>
          </a:p>
          <a:p>
            <a:r>
              <a:t>- Highlight the difference between general e-commerce and banking consistency</a:t>
            </a:r>
          </a:p>
          <a:p>
            <a:r>
              <a:t>- Zero tolerance for duplicate deductions or negative balances</a:t>
            </a:r>
          </a:p>
          <a:p>
            <a:r>
              <a:t>- Explain the non-negotiable nature of double-entry bookkeeping</a:t>
            </a:r>
          </a:p>
          <a:p/>
          <a:p>
            <a:r>
              <a:t>💡 ANTICIPATED TECHNICAL Q&amp;A:</a:t>
            </a:r>
          </a:p>
          <a:p>
            <a:r>
              <a:t>Q: How do you handle network timeouts where the client disconnects before receiving the response?</a:t>
            </a:r>
          </a:p>
          <a:p>
            <a:r>
              <a:t>A: The transaction completes safely in the database and caches its receipt in Redis. When the client retries with the same Idempotency-Key, they receive the exact cached settled receipt instantaneously.</a:t>
            </a:r>
          </a:p>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TIMING: 2 minutes</a:t>
            </a:r>
          </a:p>
          <a:p/>
          <a:p>
            <a:r>
              <a:t>🎙 TALKING SCRIPT:</a:t>
            </a:r>
          </a:p>
          <a:p>
            <a:r>
              <a:t>Let's examine the multi-tier architectural blueprint. At the edge, Caddy handles TLS and routes traffic between our production domain and test preview domain. The core engine is built on Java 21 and Spring Boot 3.3, leveraging Virtual Threads so that each transaction thread can block on I/O without exhausting OS platform threads. Ahead of our database, Redis 7 serves as our defensive concurrency guard. It verifies the client Idempotency-Key and acquires an account-level distributed lock. Oracle Database 23c acts as the single source of truth. Every transfer executes inside an ACID boundary that creates immutable double-entry journal records. Finally, Apache Kafka running in KRaft mode handles asynchronous event streaming, including real-time AML fraud detection for transactions over 100 million Rupiah, and dead-letter queues.</a:t>
            </a:r>
          </a:p>
          <a:p/>
          <a:p>
            <a:r>
              <a:t>📌 KEY HIGHLIGHTS TO EMPHASIZE:</a:t>
            </a:r>
          </a:p>
          <a:p>
            <a:r>
              <a:t>- Clear separation of concerns across the 4 architectural layers</a:t>
            </a:r>
          </a:p>
          <a:p>
            <a:r>
              <a:t>- Virtual threads eliminate thread starvation during database and Redis I/O</a:t>
            </a:r>
          </a:p>
          <a:p>
            <a:r>
              <a:t>- Kafka decouples heavy notifications and compliance checks from the critical settlement path</a:t>
            </a:r>
          </a:p>
          <a:p/>
          <a:p>
            <a:r>
              <a:t>💡 ANTICIPATED TECHNICAL Q&amp;A:</a:t>
            </a:r>
          </a:p>
          <a:p>
            <a:r>
              <a:t>Q: Why did you choose Oracle 23c instead of Postgres?</a:t>
            </a:r>
          </a:p>
          <a:p>
            <a:r>
              <a:t>A: Oracle is the industry standard in tier-1 banking institutions due to its battle-tested ACID engine, robust PL/SQL auditing, fine-grained check constraints, and enterprise backup/recovery tooling.</a:t>
            </a:r>
          </a:p>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TIMING: 2 minutes</a:t>
            </a:r>
          </a:p>
          <a:p/>
          <a:p>
            <a:r>
              <a:t>🎙 TALKING SCRIPT:</a:t>
            </a:r>
          </a:p>
          <a:p>
            <a:r>
              <a:t>Here we see the technical implementation of our consistency guarantees. First, our Redis Idempotency state machine: when a transfer request arrives, we execute an atomic SETNX. If a duplicate request arrives while the first is in-flight, it gets an immediate 409 Conflict. Once settled, we cache the 201 response for 24 hours. When the user's mobile app retries after a network drop, it receives the exact cached receipt without deducting a single Rupiah. Second, distributed locking: we lock the sender's account using an auto-expiring 10-second token and release it with an atomic Lua script that verifies token ownership. Third, our double-entry engine: balances are never updated in isolation. Every transfer creates equal DEBIT and CREDIT lines. And finally, Oracle enforces a hardware-level CHECK constraint that balance must remain &gt;= 0, backed by JPA @Version optimistic locking.</a:t>
            </a:r>
          </a:p>
          <a:p/>
          <a:p>
            <a:r>
              <a:t>📌 KEY HIGHLIGHTS TO EMPHASIZE:</a:t>
            </a:r>
          </a:p>
          <a:p>
            <a:r>
              <a:t>- Explain why Lua script is essential for distributed lock release (preventing releasing someone else's expired lock)</a:t>
            </a:r>
          </a:p>
          <a:p>
            <a:r>
              <a:t>- Emphasize that double-entry guarantees zero mathematical ledger drift</a:t>
            </a:r>
          </a:p>
          <a:p>
            <a:r>
              <a:t>- Point out that the database check constraint provides defense-in-depth</a:t>
            </a:r>
          </a:p>
          <a:p/>
          <a:p>
            <a:r>
              <a:t>💡 ANTICIPATED TECHNICAL Q&amp;A:</a:t>
            </a:r>
          </a:p>
          <a:p>
            <a:r>
              <a:t>Q: What happens if the Redis server goes down during the transfer?</a:t>
            </a:r>
          </a:p>
          <a:p>
            <a:r>
              <a:t>A: We designed a graceful degradation path: if Redis is unavailable, the system falls back directly to Oracle DB row-level locking (SELECT FOR UPDATE) to ensure transaction safety, while logging a critical operational warning to Prometheus.</a:t>
            </a:r>
          </a:p>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TIMING: 1.5 minutes</a:t>
            </a:r>
          </a:p>
          <a:p/>
          <a:p>
            <a:r>
              <a:t>🎙 TALKING SCRIPT:</a:t>
            </a:r>
          </a:p>
          <a:p>
            <a:r>
              <a:t>Now let's examine our event-driven tier. We use Apache Kafka in KRaft mode, eliminating Zookeeper dependencies. When an interbank transfer settles in Oracle, an event is published to `bank.transfers.settled`. Running in parallel is our real-time Anti-Money Laundering (AML) fraud detector. Any transfer equal to or exceeding 100 million Rupiah automatically triggers an alert event to `bank.fraud.alerts` with severity CRITICAL. Notice that this heavy compliance processing is completely decoupled from the HTTP transfer endpoint. The client gets their HTTP 201 settlement receipt in under 150ms. Furthermore, we expose an in-memory stream ticker at `/api/v1/events/recent`, which our dashboard uses to show Kafka events ticking in real-time.</a:t>
            </a:r>
          </a:p>
          <a:p/>
          <a:p>
            <a:r>
              <a:t>📌 KEY HIGHLIGHTS TO EMPHASIZE:</a:t>
            </a:r>
          </a:p>
          <a:p>
            <a:r>
              <a:t>- KRaft mode advantages (cleaner metadata management, instant failovers)</a:t>
            </a:r>
          </a:p>
          <a:p>
            <a:r>
              <a:t>- Decoupling of synchronous settlement from asynchronous compliance processing</a:t>
            </a:r>
          </a:p>
          <a:p>
            <a:r>
              <a:t>- Dead-letter queues ensure poisoned messages do not block consumer partitions</a:t>
            </a:r>
          </a:p>
          <a:p/>
          <a:p>
            <a:r>
              <a:t>💡 ANTICIPATED TECHNICAL Q&amp;A:</a:t>
            </a:r>
          </a:p>
          <a:p>
            <a:r>
              <a:t>Q: How do you prevent event loss if the Kafka broker is temporarily unreachable during commit?</a:t>
            </a:r>
          </a:p>
          <a:p>
            <a:r>
              <a:t>A: We implemented the Transactional Outbox Pattern: the event is stored in an OUTBOX_EVENTS table within the same ACID database transaction as the ledger lines. An outbox publisher guarantees at-least-once delivery to Kafka.</a:t>
            </a:r>
          </a:p>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TIMING: 1.5 minutes</a:t>
            </a:r>
          </a:p>
          <a:p/>
          <a:p>
            <a:r>
              <a:t>🎙 TALKING SCRIPT:</a:t>
            </a:r>
          </a:p>
          <a:p>
            <a:r>
              <a:t>Our development methodology followed Spec-Driven Development (SDD). Before writing Java code, we formalized our specifications: First, an OpenAPI 3.1 specification for all REST endpoints, which generates our interactive Swagger documentation. Second, an AsyncAPI 3.0 specification for Kafka event payloads. Third, an Oracle 23c DDL specification with strict relational constraints and seed data. And fourth, a Redis Concurrency specification defining key naming conventions, TTL policies, and Lua scripts. In addition, all error responses strictly follow RFC 7807 Problem Details, giving API consumers machine-readable error codes such as VALIDATION_ERROR or INSUFFICIENT_FUNDS.</a:t>
            </a:r>
          </a:p>
          <a:p/>
          <a:p>
            <a:r>
              <a:t>📌 KEY HIGHLIGHTS TO EMPHASIZE:</a:t>
            </a:r>
          </a:p>
          <a:p>
            <a:r>
              <a:t>- Specs exist as source-of-truth contracts in the repository under /spec</a:t>
            </a:r>
          </a:p>
          <a:p>
            <a:r>
              <a:t>- OpenAPI 3.1 and AsyncAPI 3.0 ensure complete full-stack alignment</a:t>
            </a:r>
          </a:p>
          <a:p>
            <a:r>
              <a:t>- RFC 7807 standard error formatting provides enterprise-grade developer experience</a:t>
            </a:r>
          </a:p>
          <a:p/>
          <a:p>
            <a:r>
              <a:t>💡 ANTICIPATED TECHNICAL Q&amp;A:</a:t>
            </a:r>
          </a:p>
          <a:p>
            <a:r>
              <a:t>Q: How do you ensure code doesn't drift from the OpenAPI spec?</a:t>
            </a:r>
          </a:p>
          <a:p>
            <a:r>
              <a:t>A: We use SpringDoc OpenAPI annotations in our controllers and DTOs to generate the live OpenAPI JSON directly from code, and our integration tests validate request/response payload schemas against the contract.</a:t>
            </a:r>
          </a:p>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TIMING: 2 minutes</a:t>
            </a:r>
          </a:p>
          <a:p/>
          <a:p>
            <a:r>
              <a:t>🎙 TALKING SCRIPT:</a:t>
            </a:r>
          </a:p>
          <a:p>
            <a:r>
              <a:t>Let's turn to quality engineering. We implemented a rigorous 3-tier testing pyramid: At Tier 1, our unit tests isolate all core domain logic, testing distributed lock acquisition, idempotency states, and edge cases. At Tier 2, WebMvc integration tests use MockMvc to verify HTTP headers, Bean Validation constraints, and RFC 7807 error status codes. At Tier 3, our automated bash test suite `test-scenarios.sh` executes 7 live banking journeys against the running GKE cluster. Crucially, our CI/CD pipeline enforces a strict JaCoCo quality barrier: any pull request with less than 95% line or instruction coverage is automatically rejected. Our current test suite achieves 99.27% Line Coverage and 99.04% Instruction Coverage with 70 passing tests.</a:t>
            </a:r>
          </a:p>
          <a:p/>
          <a:p>
            <a:r>
              <a:t>📌 KEY HIGHLIGHTS TO EMPHASIZE:</a:t>
            </a:r>
          </a:p>
          <a:p>
            <a:r>
              <a:t>- Explain the three distinct layers of the testing pyramid</a:t>
            </a:r>
          </a:p>
          <a:p>
            <a:r>
              <a:t>- Highlight the 95% JaCoCo coverage barrier configured in pom.xml and CI/CD</a:t>
            </a:r>
          </a:p>
          <a:p>
            <a:r>
              <a:t>- Mention lombok.config exclusion of boilerplate getters/setters</a:t>
            </a:r>
          </a:p>
          <a:p/>
          <a:p>
            <a:r>
              <a:t>💡 ANTICIPATED TECHNICAL Q&amp;A:</a:t>
            </a:r>
          </a:p>
          <a:p>
            <a:r>
              <a:t>Q: How do you prevent slow E2E tests from blocking developers?</a:t>
            </a:r>
          </a:p>
          <a:p>
            <a:r>
              <a:t>A: Unit and WebMvc integration tests run in under 45 seconds in the CI build step. The live E2E test suite runs against the deployed preview domain asynchronously before final production merge.</a:t>
            </a:r>
          </a:p>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TIMING: 2 minutes</a:t>
            </a:r>
          </a:p>
          <a:p/>
          <a:p>
            <a:r>
              <a:t>🎙 TALKING SCRIPT:</a:t>
            </a:r>
          </a:p>
          <a:p>
            <a:r>
              <a:t>Let's look at Site Reliability Engineering. In core banking, SRE is about predictability and blast-radius control. We defined clear SLOs: 99.99% availability, which allows just 4.3 minutes of downtime per month. Our latency targets are sub-150ms for p95 and sub-500ms for p99. And our ledger invariance SLO has zero tolerance: mathematical drift is an immediate hard system stop. We monitor the Four Golden Signals via Prometheus metrics exposed at `/actuator/prometheus`. Importantly, we distinguish 4xx client errors, like an insufficient balance, from 5xx system errors, ensuring user validation failures don't consume our reliability error budget. We also implemented Kubernetes Horizontal Pod Autoscaling (HPA) to scale between 1 and 5 replicas based on CPU and memory thresholds, and provided SOP runbooks for incident response.</a:t>
            </a:r>
          </a:p>
          <a:p/>
          <a:p>
            <a:r>
              <a:t>📌 KEY HIGHLIGHTS TO EMPHASIZE:</a:t>
            </a:r>
          </a:p>
          <a:p>
            <a:r>
              <a:t>- Distinction between 4xx business errors and 5xx system errors in error budgeting</a:t>
            </a:r>
          </a:p>
          <a:p>
            <a:r>
              <a:t>- Multi-window multi-burn-rate alerting strategy (1h and 6h burn rates)</a:t>
            </a:r>
          </a:p>
          <a:p>
            <a:r>
              <a:t>- Kubernetes HPA scaling policies and Prometheus alert rules</a:t>
            </a:r>
          </a:p>
          <a:p/>
          <a:p>
            <a:r>
              <a:t>💡 ANTICIPATED TECHNICAL Q&amp;A:</a:t>
            </a:r>
          </a:p>
          <a:p>
            <a:r>
              <a:t>Q: How do you handle database connection pool saturation under spike load?</a:t>
            </a:r>
          </a:p>
          <a:p>
            <a:r>
              <a:t>A: Our Prometheus alert triggers if HikariCP pending threads exist for more than 30 seconds. In parallel, our Kubernetes HPA scales application replicas, and Redis rate limiters protect the database from query storms.</a:t>
            </a:r>
          </a:p>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TIMING: 2 minutes</a:t>
            </a:r>
          </a:p>
          <a:p/>
          <a:p>
            <a:r>
              <a:t>🎙 TALKING SCRIPT:</a:t>
            </a:r>
          </a:p>
          <a:p>
            <a:r>
              <a:t>Our release pipeline guarantees zero-downtime deployments and safe blast-radius containment. First, direct pushes to `main` are strictly blocked via GitHub Branch Protection with admin enforcement. Every change requires a feature branch and pull request. Second, when a feature branch is pushed, our CI/CD pipeline deploys a preview container to `https://test.indibank.aldianapps.com`. This allows engineers and testers to verify changes on a live domain before merging. Third, when the PR merges to `main`, our Blue-Green deployment pipeline automatically deploys the new image to the standby slot, waits for pod readiness, and atomically patches the Kubernetes Service selector. Traffic cutover happens instantaneously with zero dropped requests. If a regression is detected post-deployment, we can roll back in under one second by flipping the selector back.</a:t>
            </a:r>
          </a:p>
          <a:p/>
          <a:p>
            <a:r>
              <a:t>📌 KEY HIGHLIGHTS TO EMPHASIZE:</a:t>
            </a:r>
          </a:p>
          <a:p>
            <a:r>
              <a:t>- Branch protection with enforce_admins: true and required status checks</a:t>
            </a:r>
          </a:p>
          <a:p>
            <a:r>
              <a:t>- Dual-domain routing: test.indibank.aldianapps.com vs indibank.aldianapps.com</a:t>
            </a:r>
          </a:p>
          <a:p>
            <a:r>
              <a:t>- Sub-second atomic rollback mechanism using Kubernetes service selectors</a:t>
            </a:r>
          </a:p>
          <a:p/>
          <a:p>
            <a:r>
              <a:t>💡 ANTICIPATED TECHNICAL Q&amp;A:</a:t>
            </a:r>
          </a:p>
          <a:p>
            <a:r>
              <a:t>Q: Why did you choose Blue-Green over Canary for this system?</a:t>
            </a:r>
          </a:p>
          <a:p>
            <a:r>
              <a:t>A: In core banking financial ledgers, running two different versions concurrently against shared state can cause subtle schema inconsistencies. Blue-Green provides a deterministic, atomic version boundary with immediate rollback capability.</a:t>
            </a:r>
          </a:p>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TIMING: 1.5 minutes</a:t>
            </a:r>
          </a:p>
          <a:p/>
          <a:p>
            <a:r>
              <a:t>🎙 TALKING SCRIPT:</a:t>
            </a:r>
          </a:p>
          <a:p>
            <a:r>
              <a:t>While our live demonstration runs on Google Kubernetes Engine in the Jakarta region, the entire platform is designed for multi-cloud and on-premise portability. Many financial institutions operate hybrid environments or deploy across AWS, Azure, or on-premise Red Hat OpenShift. We built a comprehensive Helm chart in `helm/indibank/` that allows deploying IndiBank Core to any CNCF-conformant Kubernetes cluster, including local Minikube or Kind for offline development. The deployment architecture is fully documented in `docs/deployment/MULTI_PLATFORM.md`. Furthermore, our containers adhere to strict enterprise security standards: they run as unprivileged non-root users with strict CPU and memory resource quotas.</a:t>
            </a:r>
          </a:p>
          <a:p/>
          <a:p>
            <a:r>
              <a:t>📌 KEY HIGHLIGHTS TO EMPHASIZE:</a:t>
            </a:r>
          </a:p>
          <a:p>
            <a:r>
              <a:t>- Multi-cloud readiness (GCP, AWS, Azure, OpenShift, local)</a:t>
            </a:r>
          </a:p>
          <a:p>
            <a:r>
              <a:t>- Unified production Helm chart in helm/indibank/</a:t>
            </a:r>
          </a:p>
          <a:p>
            <a:r>
              <a:t>- Enterprise container hardening (non-root execution, resource limits)</a:t>
            </a:r>
          </a:p>
          <a:p/>
          <a:p>
            <a:r>
              <a:t>💡 ANTICIPATED TECHNICAL Q&amp;A:</a:t>
            </a:r>
          </a:p>
          <a:p>
            <a:r>
              <a:t>Q: How do you handle database storage persistence across different cloud providers?</a:t>
            </a:r>
          </a:p>
          <a:p>
            <a:r>
              <a:t>A: We use standard Kubernetes PersistentVolumeClaims (PVC) mapped to the default StorageClass of each cloud provider—Compute Engine persistent disks on GKE, EBS on AWS, and Managed Disks on Azure.</a:t>
            </a:r>
          </a:p>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TIMING: 2 minutes</a:t>
            </a:r>
          </a:p>
          <a:p/>
          <a:p>
            <a:r>
              <a:t>🎙 TALKING SCRIPT:</a:t>
            </a:r>
          </a:p>
          <a:p>
            <a:r>
              <a:t>To conclude, IndiBank Core Engine is not a theoretical prototype—it is a live, production-grade core banking engine running in Google Cloud right now. You can open `https://indibank.aldianapps.com` on your browser or phone to execute live interbank transfers, inspect the double-entry general ledger, and watch the real-time Kafka event ticker. Our automated verification suite tested all 7 key banking scenarios against live production, and every single scenario passed. To summarize what we've built: First, absolute financial consistency backed by double-entry accounting in Oracle 23c. Second, defensive concurrency with Redis idempotency and distributed locking preventing double debits. Third, high-throughput asynchronous event streaming with Kafka KRaft. And fourth, zero-downtime Blue-Green deployments backed by an enforced 95% test coverage barrier and full SRE observability. Thank you, and I look forward to taking your questions.</a:t>
            </a:r>
          </a:p>
          <a:p/>
          <a:p>
            <a:r>
              <a:t>📌 KEY HIGHLIGHTS TO EMPHASIZE:</a:t>
            </a:r>
          </a:p>
          <a:p>
            <a:r>
              <a:t>- Invite evaluators to try the live dashboard at https://indibank.aldianapps.com</a:t>
            </a:r>
          </a:p>
          <a:p>
            <a:r>
              <a:t>- Emphasize the 100% pass rate across the 7 verification scenarios</a:t>
            </a:r>
          </a:p>
          <a:p>
            <a:r>
              <a:t>- Reiterate the core pillars: consistency, concurrency safety, event streaming, and SRE</a:t>
            </a:r>
          </a:p>
          <a:p/>
          <a:p>
            <a:r>
              <a:t>💡 ANTICIPATED TECHNICAL Q&amp;A:</a:t>
            </a:r>
          </a:p>
          <a:p>
            <a:r>
              <a:t>Q: What would be your next architectural phase for this system?</a:t>
            </a:r>
          </a:p>
          <a:p>
            <a:r>
              <a:t>A: Phase two would introduce multi-region active-active database replication using Oracle GoldenGate, Kafka cross-cluster MirrorMaker 2, and tokenized API security using OAuth2 / OpenID Connect with mTLS at the edge gateway.</a:t>
            </a:r>
          </a:p>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914400" y="1097280"/>
            <a:ext cx="10332720" cy="457200"/>
          </a:xfrm>
          <a:prstGeom prst="rect">
            <a:avLst/>
          </a:prstGeom>
          <a:noFill/>
        </p:spPr>
        <p:txBody>
          <a:bodyPr wrap="none">
            <a:spAutoFit/>
          </a:bodyPr>
          <a:lstStyle/>
          <a:p>
            <a:pPr>
              <a:defRPr sz="1300" b="1">
                <a:solidFill>
                  <a:srgbClr val="10B981"/>
                </a:solidFill>
                <a:latin typeface="Calibri"/>
              </a:defRPr>
            </a:pPr>
            <a:r>
              <a:t>ENTERPRISE CORE BANKING ARCHITECTURE</a:t>
            </a:r>
          </a:p>
        </p:txBody>
      </p:sp>
      <p:sp>
        <p:nvSpPr>
          <p:cNvPr id="3" name="TextBox 2"/>
          <p:cNvSpPr txBox="1"/>
          <p:nvPr/>
        </p:nvSpPr>
        <p:spPr>
          <a:xfrm>
            <a:off x="914400" y="1645920"/>
            <a:ext cx="10332720" cy="1371600"/>
          </a:xfrm>
          <a:prstGeom prst="rect">
            <a:avLst/>
          </a:prstGeom>
          <a:noFill/>
        </p:spPr>
        <p:txBody>
          <a:bodyPr wrap="square">
            <a:spAutoFit/>
          </a:bodyPr>
          <a:lstStyle/>
          <a:p>
            <a:pPr>
              <a:defRPr sz="3800" b="1">
                <a:solidFill>
                  <a:srgbClr val="F8FAFC"/>
                </a:solidFill>
                <a:latin typeface="Calibri"/>
              </a:defRPr>
            </a:pPr>
            <a:r>
              <a:t>IndiBank Core Transaction &amp; Ledger Engine</a:t>
            </a:r>
          </a:p>
          <a:p>
            <a:pPr>
              <a:spcBef>
                <a:spcPts val="800"/>
              </a:spcBef>
              <a:defRPr sz="1800">
                <a:solidFill>
                  <a:srgbClr val="0EA5E9"/>
                </a:solidFill>
                <a:latin typeface="Calibri"/>
              </a:defRPr>
            </a:pPr>
            <a:r>
              <a:t>Production Architecture, Defensive Concurrency, &amp; Zero-Loss Financial Integrity</a:t>
            </a:r>
          </a:p>
        </p:txBody>
      </p:sp>
      <p:sp>
        <p:nvSpPr>
          <p:cNvPr id="4" name="Rounded Rectangle 3"/>
          <p:cNvSpPr/>
          <p:nvPr/>
        </p:nvSpPr>
        <p:spPr>
          <a:xfrm>
            <a:off x="914400" y="3474720"/>
            <a:ext cx="10362895" cy="1280160"/>
          </a:xfrm>
          <a:prstGeom prst="roundRect">
            <a:avLst/>
          </a:prstGeom>
          <a:solidFill>
            <a:srgbClr val="1A2639"/>
          </a:solidFill>
          <a:ln>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59E0B"/>
                </a:solidFill>
                <a:latin typeface="Calibri"/>
              </a:defRPr>
            </a:pPr>
            <a:r>
              <a:t>TECHNOLOGY STACK &amp; CLOUD PLATFORM</a:t>
            </a:r>
          </a:p>
          <a:p>
            <a:pPr>
              <a:spcBef>
                <a:spcPts val="400"/>
              </a:spcBef>
              <a:defRPr sz="1300" b="1">
                <a:solidFill>
                  <a:srgbClr val="F8FAFC"/>
                </a:solidFill>
                <a:latin typeface="Calibri"/>
              </a:defRPr>
            </a:pPr>
            <a:r>
              <a:t>Java 21 (Virtual Threads) • Spring Boot 3.3 • Apache Kafka 3.7 (KRaft) • Redis 7 • Oracle DB 23c • GKE • Terraform</a:t>
            </a:r>
          </a:p>
          <a:p>
            <a:pPr>
              <a:spcBef>
                <a:spcPts val="400"/>
              </a:spcBef>
              <a:defRPr sz="1100">
                <a:solidFill>
                  <a:srgbClr val="10B981"/>
                </a:solidFill>
                <a:latin typeface="Calibri"/>
              </a:defRPr>
            </a:pPr>
            <a:r>
              <a:t>Live URLs: https://indibank.aldianapps.com • https://test.indibank.aldianapps.com</a:t>
            </a:r>
          </a:p>
        </p:txBody>
      </p:sp>
      <p:sp>
        <p:nvSpPr>
          <p:cNvPr id="5" name="TextBox 4"/>
          <p:cNvSpPr txBox="1"/>
          <p:nvPr/>
        </p:nvSpPr>
        <p:spPr>
          <a:xfrm>
            <a:off x="914400" y="5120640"/>
            <a:ext cx="10332720" cy="914400"/>
          </a:xfrm>
          <a:prstGeom prst="rect">
            <a:avLst/>
          </a:prstGeom>
          <a:noFill/>
        </p:spPr>
        <p:txBody>
          <a:bodyPr wrap="none">
            <a:spAutoFit/>
          </a:bodyPr>
          <a:lstStyle/>
          <a:p>
            <a:pPr>
              <a:defRPr sz="1400" b="1">
                <a:solidFill>
                  <a:srgbClr val="F8FAFC"/>
                </a:solidFill>
                <a:latin typeface="Calibri"/>
              </a:defRPr>
            </a:pPr>
            <a:r>
              <a:t>Presenter: Aldian Fazrihady</a:t>
            </a:r>
          </a:p>
          <a:p>
            <a:pPr>
              <a:defRPr sz="1200">
                <a:solidFill>
                  <a:srgbClr val="94A3B8"/>
                </a:solidFill>
                <a:latin typeface="Calibri"/>
              </a:defRPr>
            </a:pPr>
            <a:r>
              <a:t>Lead Platform &amp; Distributed Systems Engineer | Spec-Driven Development Showcase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BUSINESS PROBLEM &amp; REQUIREMENTS</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The Core Banking Conundrum: Real-Time vs ACID Consistency</a:t>
            </a:r>
          </a:p>
        </p:txBody>
      </p:sp>
      <p:sp>
        <p:nvSpPr>
          <p:cNvPr id="4" name="Rounded Rectangle 3"/>
          <p:cNvSpPr/>
          <p:nvPr/>
        </p:nvSpPr>
        <p:spPr>
          <a:xfrm>
            <a:off x="7315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411480"/>
          </a:xfrm>
          <a:prstGeom prst="rect">
            <a:avLst/>
          </a:prstGeom>
          <a:noFill/>
        </p:spPr>
        <p:txBody>
          <a:bodyPr wrap="square">
            <a:spAutoFit/>
          </a:bodyPr>
          <a:lstStyle/>
          <a:p>
            <a:pPr>
              <a:defRPr sz="1400" b="1">
                <a:solidFill>
                  <a:srgbClr val="0EA5E9"/>
                </a:solidFill>
                <a:latin typeface="Calibri"/>
              </a:defRPr>
            </a:pPr>
            <a:r>
              <a:t>1. Network Retries &amp; Replays</a:t>
            </a:r>
          </a:p>
        </p:txBody>
      </p:sp>
      <p:sp>
        <p:nvSpPr>
          <p:cNvPr id="6" name="TextBox 5"/>
          <p:cNvSpPr txBox="1"/>
          <p:nvPr/>
        </p:nvSpPr>
        <p:spPr>
          <a:xfrm>
            <a:off x="9144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The Risk: </a:t>
            </a:r>
            <a:r>
              <a:rPr sz="1100">
                <a:solidFill>
                  <a:srgbClr val="94A3B8"/>
                </a:solidFill>
                <a:latin typeface="Calibri"/>
              </a:rPr>
              <a:t>Unreliable mobile data networks cause clients to retry transfers multiple times.</a:t>
            </a:r>
          </a:p>
          <a:p>
            <a:pPr>
              <a:spcAft>
                <a:spcPts val="600"/>
              </a:spcAft>
            </a:pPr>
            <a:r>
              <a:rPr sz="1100" b="1">
                <a:solidFill>
                  <a:srgbClr val="F8FAFC"/>
                </a:solidFill>
                <a:latin typeface="Calibri"/>
              </a:rPr>
              <a:t>• The Catastrophe: </a:t>
            </a:r>
            <a:r>
              <a:rPr sz="1100">
                <a:solidFill>
                  <a:srgbClr val="94A3B8"/>
                </a:solidFill>
                <a:latin typeface="Calibri"/>
              </a:rPr>
              <a:t>Without deterministic idempotency, retries cause duplicate debit deductions.</a:t>
            </a:r>
          </a:p>
          <a:p>
            <a:pPr>
              <a:spcAft>
                <a:spcPts val="600"/>
              </a:spcAft>
            </a:pPr>
            <a:r>
              <a:rPr sz="1100" b="1">
                <a:solidFill>
                  <a:srgbClr val="F8FAFC"/>
                </a:solidFill>
                <a:latin typeface="Calibri"/>
              </a:rPr>
              <a:t>• IndiBank Solution: </a:t>
            </a:r>
            <a:r>
              <a:rPr sz="1100">
                <a:solidFill>
                  <a:srgbClr val="94A3B8"/>
                </a:solidFill>
                <a:latin typeface="Calibri"/>
              </a:rPr>
              <a:t>Redis SETNX 24-hour cached receipt returns identical payload on replays without re-debiting.</a:t>
            </a:r>
          </a:p>
        </p:txBody>
      </p:sp>
      <p:sp>
        <p:nvSpPr>
          <p:cNvPr id="7" name="Rounded Rectangle 6"/>
          <p:cNvSpPr/>
          <p:nvPr/>
        </p:nvSpPr>
        <p:spPr>
          <a:xfrm>
            <a:off x="43891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00200"/>
            <a:ext cx="3017520" cy="411480"/>
          </a:xfrm>
          <a:prstGeom prst="rect">
            <a:avLst/>
          </a:prstGeom>
          <a:noFill/>
        </p:spPr>
        <p:txBody>
          <a:bodyPr wrap="square">
            <a:spAutoFit/>
          </a:bodyPr>
          <a:lstStyle/>
          <a:p>
            <a:pPr>
              <a:defRPr sz="1400" b="1">
                <a:solidFill>
                  <a:srgbClr val="F59E0B"/>
                </a:solidFill>
                <a:latin typeface="Calibri"/>
              </a:defRPr>
            </a:pPr>
            <a:r>
              <a:t>2. Concurrency &amp; Race Conditions</a:t>
            </a:r>
          </a:p>
        </p:txBody>
      </p:sp>
      <p:sp>
        <p:nvSpPr>
          <p:cNvPr id="9" name="TextBox 8"/>
          <p:cNvSpPr txBox="1"/>
          <p:nvPr/>
        </p:nvSpPr>
        <p:spPr>
          <a:xfrm>
            <a:off x="45720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The Risk: </a:t>
            </a:r>
            <a:r>
              <a:rPr sz="1100">
                <a:solidFill>
                  <a:srgbClr val="94A3B8"/>
                </a:solidFill>
                <a:latin typeface="Calibri"/>
              </a:rPr>
              <a:t>Concurrent API requests targeting the same sender (e.g. automated payroll or debit sweep).</a:t>
            </a:r>
          </a:p>
          <a:p>
            <a:pPr>
              <a:spcAft>
                <a:spcPts val="600"/>
              </a:spcAft>
            </a:pPr>
            <a:r>
              <a:rPr sz="1100" b="1">
                <a:solidFill>
                  <a:srgbClr val="F8FAFC"/>
                </a:solidFill>
                <a:latin typeface="Calibri"/>
              </a:rPr>
              <a:t>• The Catastrophe: </a:t>
            </a:r>
            <a:r>
              <a:rPr sz="1100">
                <a:solidFill>
                  <a:srgbClr val="94A3B8"/>
                </a:solidFill>
                <a:latin typeface="Calibri"/>
              </a:rPr>
              <a:t>Read-modify-write race conditions lead to overdraft and negative balances.</a:t>
            </a:r>
          </a:p>
          <a:p>
            <a:pPr>
              <a:spcAft>
                <a:spcPts val="600"/>
              </a:spcAft>
            </a:pPr>
            <a:r>
              <a:rPr sz="1100" b="1">
                <a:solidFill>
                  <a:srgbClr val="F8FAFC"/>
                </a:solidFill>
                <a:latin typeface="Calibri"/>
              </a:rPr>
              <a:t>• IndiBank Solution: </a:t>
            </a:r>
            <a:r>
              <a:rPr sz="1100">
                <a:solidFill>
                  <a:srgbClr val="94A3B8"/>
                </a:solidFill>
                <a:latin typeface="Calibri"/>
              </a:rPr>
              <a:t>Distributed mutex with 10s auto-expiry and atomic Lua verification guarantees single-flight execution.</a:t>
            </a:r>
          </a:p>
        </p:txBody>
      </p:sp>
      <p:sp>
        <p:nvSpPr>
          <p:cNvPr id="10" name="Rounded Rectangle 9"/>
          <p:cNvSpPr/>
          <p:nvPr/>
        </p:nvSpPr>
        <p:spPr>
          <a:xfrm>
            <a:off x="80467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411480"/>
          </a:xfrm>
          <a:prstGeom prst="rect">
            <a:avLst/>
          </a:prstGeom>
          <a:noFill/>
        </p:spPr>
        <p:txBody>
          <a:bodyPr wrap="square">
            <a:spAutoFit/>
          </a:bodyPr>
          <a:lstStyle/>
          <a:p>
            <a:pPr>
              <a:defRPr sz="1400" b="1">
                <a:solidFill>
                  <a:srgbClr val="10B981"/>
                </a:solidFill>
                <a:latin typeface="Calibri"/>
              </a:defRPr>
            </a:pPr>
            <a:r>
              <a:t>3. Ledger Drift &amp; Auditability</a:t>
            </a:r>
          </a:p>
        </p:txBody>
      </p:sp>
      <p:sp>
        <p:nvSpPr>
          <p:cNvPr id="12" name="TextBox 11"/>
          <p:cNvSpPr txBox="1"/>
          <p:nvPr/>
        </p:nvSpPr>
        <p:spPr>
          <a:xfrm>
            <a:off x="82296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The Risk: </a:t>
            </a:r>
            <a:r>
              <a:rPr sz="1100">
                <a:solidFill>
                  <a:srgbClr val="94A3B8"/>
                </a:solidFill>
                <a:latin typeface="Calibri"/>
              </a:rPr>
              <a:t>In-place balance updates lose historical context and violate financial audit regulations.</a:t>
            </a:r>
          </a:p>
          <a:p>
            <a:pPr>
              <a:spcAft>
                <a:spcPts val="600"/>
              </a:spcAft>
            </a:pPr>
            <a:r>
              <a:rPr sz="1100" b="1">
                <a:solidFill>
                  <a:srgbClr val="F8FAFC"/>
                </a:solidFill>
                <a:latin typeface="Calibri"/>
              </a:rPr>
              <a:t>• The Catastrophe: </a:t>
            </a:r>
            <a:r>
              <a:rPr sz="1100">
                <a:solidFill>
                  <a:srgbClr val="94A3B8"/>
                </a:solidFill>
                <a:latin typeface="Calibri"/>
              </a:rPr>
              <a:t>Money vanishes or appears without a balancing journal line, failing bank audit.</a:t>
            </a:r>
          </a:p>
          <a:p>
            <a:pPr>
              <a:spcAft>
                <a:spcPts val="600"/>
              </a:spcAft>
            </a:pPr>
            <a:r>
              <a:rPr sz="1100" b="1">
                <a:solidFill>
                  <a:srgbClr val="F8FAFC"/>
                </a:solidFill>
                <a:latin typeface="Calibri"/>
              </a:rPr>
              <a:t>• IndiBank Solution: </a:t>
            </a:r>
            <a:r>
              <a:rPr sz="1100">
                <a:solidFill>
                  <a:srgbClr val="94A3B8"/>
                </a:solidFill>
                <a:latin typeface="Calibri"/>
              </a:rPr>
              <a:t>Strict Double-Entry Bookkeeping in Oracle 23c ensures total debits always equal total credits.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SYSTEM ARCHITECTURE &amp; C4 VIEW</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Enterprise Multi-Tier Architecture &amp; Data Flow</a:t>
            </a:r>
          </a:p>
        </p:txBody>
      </p:sp>
      <p:sp>
        <p:nvSpPr>
          <p:cNvPr id="4" name="Rounded Rectangle 3"/>
          <p:cNvSpPr/>
          <p:nvPr/>
        </p:nvSpPr>
        <p:spPr>
          <a:xfrm>
            <a:off x="731520" y="1463040"/>
            <a:ext cx="256032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2194560" cy="411480"/>
          </a:xfrm>
          <a:prstGeom prst="rect">
            <a:avLst/>
          </a:prstGeom>
          <a:noFill/>
        </p:spPr>
        <p:txBody>
          <a:bodyPr wrap="square">
            <a:spAutoFit/>
          </a:bodyPr>
          <a:lstStyle/>
          <a:p>
            <a:pPr>
              <a:defRPr sz="1400" b="1">
                <a:solidFill>
                  <a:srgbClr val="0EA5E9"/>
                </a:solidFill>
                <a:latin typeface="Calibri"/>
              </a:defRPr>
            </a:pPr>
            <a:r>
              <a:t>Ingress &amp; Engine</a:t>
            </a:r>
          </a:p>
        </p:txBody>
      </p:sp>
      <p:sp>
        <p:nvSpPr>
          <p:cNvPr id="6" name="TextBox 5"/>
          <p:cNvSpPr txBox="1"/>
          <p:nvPr/>
        </p:nvSpPr>
        <p:spPr>
          <a:xfrm>
            <a:off x="914400" y="2011680"/>
            <a:ext cx="2194560" cy="4069080"/>
          </a:xfrm>
          <a:prstGeom prst="rect">
            <a:avLst/>
          </a:prstGeom>
          <a:noFill/>
        </p:spPr>
        <p:txBody>
          <a:bodyPr wrap="square">
            <a:spAutoFit/>
          </a:bodyPr>
          <a:lstStyle/>
          <a:p>
            <a:pPr>
              <a:spcAft>
                <a:spcPts val="600"/>
              </a:spcAft>
            </a:pPr>
            <a:r>
              <a:rPr sz="1100" b="1">
                <a:solidFill>
                  <a:srgbClr val="F8FAFC"/>
                </a:solidFill>
                <a:latin typeface="Calibri"/>
              </a:rPr>
              <a:t>• Caddy Ingress: </a:t>
            </a:r>
            <a:r>
              <a:rPr sz="1100">
                <a:solidFill>
                  <a:srgbClr val="94A3B8"/>
                </a:solidFill>
                <a:latin typeface="Calibri"/>
              </a:rPr>
              <a:t>Multi-domain TLS routing, rate limiting, and SSL termination at the edge.</a:t>
            </a:r>
          </a:p>
          <a:p>
            <a:pPr>
              <a:spcAft>
                <a:spcPts val="600"/>
              </a:spcAft>
            </a:pPr>
            <a:r>
              <a:rPr sz="1100" b="1">
                <a:solidFill>
                  <a:srgbClr val="F8FAFC"/>
                </a:solidFill>
                <a:latin typeface="Calibri"/>
              </a:rPr>
              <a:t>• Java 21 LTS: </a:t>
            </a:r>
            <a:r>
              <a:rPr sz="1100">
                <a:solidFill>
                  <a:srgbClr val="94A3B8"/>
                </a:solidFill>
                <a:latin typeface="Calibri"/>
              </a:rPr>
              <a:t>High-throughput execution with Virtual Threads (Project Loom) handling high concurrency.</a:t>
            </a:r>
          </a:p>
          <a:p>
            <a:pPr>
              <a:spcAft>
                <a:spcPts val="600"/>
              </a:spcAft>
            </a:pPr>
            <a:r>
              <a:rPr sz="1100" b="1">
                <a:solidFill>
                  <a:srgbClr val="F8FAFC"/>
                </a:solidFill>
                <a:latin typeface="Calibri"/>
              </a:rPr>
              <a:t>• Spring Boot 3.3: </a:t>
            </a:r>
            <a:r>
              <a:rPr sz="1100">
                <a:solidFill>
                  <a:srgbClr val="94A3B8"/>
                </a:solidFill>
                <a:latin typeface="Calibri"/>
              </a:rPr>
              <a:t>Clean Hexagonal architecture, Spring Data JPA, Spring Kafka, Spring Data Redis.</a:t>
            </a:r>
          </a:p>
          <a:p>
            <a:pPr>
              <a:spcAft>
                <a:spcPts val="600"/>
              </a:spcAft>
            </a:pPr>
            <a:r>
              <a:rPr sz="1100" b="1">
                <a:solidFill>
                  <a:srgbClr val="F8FAFC"/>
                </a:solidFill>
                <a:latin typeface="Calibri"/>
              </a:rPr>
              <a:t>• OpenAPI / Swagger: </a:t>
            </a:r>
            <a:r>
              <a:rPr sz="1100">
                <a:solidFill>
                  <a:srgbClr val="94A3B8"/>
                </a:solidFill>
                <a:latin typeface="Calibri"/>
              </a:rPr>
              <a:t>Interactive documentation exposed live at /swagger-ui.html.</a:t>
            </a:r>
          </a:p>
        </p:txBody>
      </p:sp>
      <p:sp>
        <p:nvSpPr>
          <p:cNvPr id="7" name="Rounded Rectangle 6"/>
          <p:cNvSpPr/>
          <p:nvPr/>
        </p:nvSpPr>
        <p:spPr>
          <a:xfrm>
            <a:off x="3474720" y="1463040"/>
            <a:ext cx="256032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1600200"/>
            <a:ext cx="2194560" cy="411480"/>
          </a:xfrm>
          <a:prstGeom prst="rect">
            <a:avLst/>
          </a:prstGeom>
          <a:noFill/>
        </p:spPr>
        <p:txBody>
          <a:bodyPr wrap="square">
            <a:spAutoFit/>
          </a:bodyPr>
          <a:lstStyle/>
          <a:p>
            <a:pPr>
              <a:defRPr sz="1400" b="1">
                <a:solidFill>
                  <a:srgbClr val="F59E0B"/>
                </a:solidFill>
                <a:latin typeface="Calibri"/>
              </a:defRPr>
            </a:pPr>
            <a:r>
              <a:t>Concurrency &amp; Cache</a:t>
            </a:r>
          </a:p>
        </p:txBody>
      </p:sp>
      <p:sp>
        <p:nvSpPr>
          <p:cNvPr id="9" name="TextBox 8"/>
          <p:cNvSpPr txBox="1"/>
          <p:nvPr/>
        </p:nvSpPr>
        <p:spPr>
          <a:xfrm>
            <a:off x="3657600" y="2011680"/>
            <a:ext cx="2194560" cy="4069080"/>
          </a:xfrm>
          <a:prstGeom prst="rect">
            <a:avLst/>
          </a:prstGeom>
          <a:noFill/>
        </p:spPr>
        <p:txBody>
          <a:bodyPr wrap="square">
            <a:spAutoFit/>
          </a:bodyPr>
          <a:lstStyle/>
          <a:p>
            <a:pPr>
              <a:spcAft>
                <a:spcPts val="600"/>
              </a:spcAft>
            </a:pPr>
            <a:r>
              <a:rPr sz="1100" b="1">
                <a:solidFill>
                  <a:srgbClr val="F8FAFC"/>
                </a:solidFill>
                <a:latin typeface="Calibri"/>
              </a:rPr>
              <a:t>• Redis 7 Store: </a:t>
            </a:r>
            <a:r>
              <a:rPr sz="1100">
                <a:solidFill>
                  <a:srgbClr val="94A3B8"/>
                </a:solidFill>
                <a:latin typeface="Calibri"/>
              </a:rPr>
              <a:t>In-memory guard operating ahead of the relational database.</a:t>
            </a:r>
          </a:p>
          <a:p>
            <a:pPr>
              <a:spcAft>
                <a:spcPts val="600"/>
              </a:spcAft>
            </a:pPr>
            <a:r>
              <a:rPr sz="1100" b="1">
                <a:solidFill>
                  <a:srgbClr val="F8FAFC"/>
                </a:solidFill>
                <a:latin typeface="Calibri"/>
              </a:rPr>
              <a:t>• Idempotency Engine: </a:t>
            </a:r>
            <a:r>
              <a:rPr sz="1100">
                <a:solidFill>
                  <a:srgbClr val="94A3B8"/>
                </a:solidFill>
                <a:latin typeface="Calibri"/>
              </a:rPr>
              <a:t>SETNX state machine with 24-hour cached responses.</a:t>
            </a:r>
          </a:p>
          <a:p>
            <a:pPr>
              <a:spcAft>
                <a:spcPts val="600"/>
              </a:spcAft>
            </a:pPr>
            <a:r>
              <a:rPr sz="1100" b="1">
                <a:solidFill>
                  <a:srgbClr val="F8FAFC"/>
                </a:solidFill>
                <a:latin typeface="Calibri"/>
              </a:rPr>
              <a:t>• Distributed Lock: </a:t>
            </a:r>
            <a:r>
              <a:rPr sz="1100">
                <a:solidFill>
                  <a:srgbClr val="94A3B8"/>
                </a:solidFill>
                <a:latin typeface="Calibri"/>
              </a:rPr>
              <a:t>Account-level mutex with 10s auto-expiry TTL.</a:t>
            </a:r>
          </a:p>
          <a:p>
            <a:pPr>
              <a:spcAft>
                <a:spcPts val="600"/>
              </a:spcAft>
            </a:pPr>
            <a:r>
              <a:rPr sz="1100" b="1">
                <a:solidFill>
                  <a:srgbClr val="F8FAFC"/>
                </a:solidFill>
                <a:latin typeface="Calibri"/>
              </a:rPr>
              <a:t>• Fast Balance Cache: </a:t>
            </a:r>
            <a:r>
              <a:rPr sz="1100">
                <a:solidFill>
                  <a:srgbClr val="94A3B8"/>
                </a:solidFill>
                <a:latin typeface="Calibri"/>
              </a:rPr>
              <a:t>Sub-millisecond balance reads with automated write-invalidation.</a:t>
            </a:r>
          </a:p>
        </p:txBody>
      </p:sp>
      <p:sp>
        <p:nvSpPr>
          <p:cNvPr id="10" name="Rounded Rectangle 9"/>
          <p:cNvSpPr/>
          <p:nvPr/>
        </p:nvSpPr>
        <p:spPr>
          <a:xfrm>
            <a:off x="6217920" y="1463040"/>
            <a:ext cx="256032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2194560" cy="411480"/>
          </a:xfrm>
          <a:prstGeom prst="rect">
            <a:avLst/>
          </a:prstGeom>
          <a:noFill/>
        </p:spPr>
        <p:txBody>
          <a:bodyPr wrap="square">
            <a:spAutoFit/>
          </a:bodyPr>
          <a:lstStyle/>
          <a:p>
            <a:pPr>
              <a:defRPr sz="1400" b="1">
                <a:solidFill>
                  <a:srgbClr val="10B981"/>
                </a:solidFill>
                <a:latin typeface="Calibri"/>
              </a:defRPr>
            </a:pPr>
            <a:r>
              <a:t>System of Record</a:t>
            </a:r>
          </a:p>
        </p:txBody>
      </p:sp>
      <p:sp>
        <p:nvSpPr>
          <p:cNvPr id="12" name="TextBox 11"/>
          <p:cNvSpPr txBox="1"/>
          <p:nvPr/>
        </p:nvSpPr>
        <p:spPr>
          <a:xfrm>
            <a:off x="6400800" y="2011680"/>
            <a:ext cx="2194560" cy="4069080"/>
          </a:xfrm>
          <a:prstGeom prst="rect">
            <a:avLst/>
          </a:prstGeom>
          <a:noFill/>
        </p:spPr>
        <p:txBody>
          <a:bodyPr wrap="square">
            <a:spAutoFit/>
          </a:bodyPr>
          <a:lstStyle/>
          <a:p>
            <a:pPr>
              <a:spcAft>
                <a:spcPts val="600"/>
              </a:spcAft>
            </a:pPr>
            <a:r>
              <a:rPr sz="1100" b="1">
                <a:solidFill>
                  <a:srgbClr val="F8FAFC"/>
                </a:solidFill>
                <a:latin typeface="Calibri"/>
              </a:rPr>
              <a:t>• Oracle DB 23c: </a:t>
            </a:r>
            <a:r>
              <a:rPr sz="1100">
                <a:solidFill>
                  <a:srgbClr val="94A3B8"/>
                </a:solidFill>
                <a:latin typeface="Calibri"/>
              </a:rPr>
              <a:t>ACID financial transaction ledger and master account state.</a:t>
            </a:r>
          </a:p>
          <a:p>
            <a:pPr>
              <a:spcAft>
                <a:spcPts val="600"/>
              </a:spcAft>
            </a:pPr>
            <a:r>
              <a:rPr sz="1100" b="1">
                <a:solidFill>
                  <a:srgbClr val="F8FAFC"/>
                </a:solidFill>
                <a:latin typeface="Calibri"/>
              </a:rPr>
              <a:t>• Double-Entry Book: </a:t>
            </a:r>
            <a:r>
              <a:rPr sz="1100">
                <a:solidFill>
                  <a:srgbClr val="94A3B8"/>
                </a:solidFill>
                <a:latin typeface="Calibri"/>
              </a:rPr>
              <a:t>Immutable journal lines: DEBIT source, CREDIT destination.</a:t>
            </a:r>
          </a:p>
          <a:p>
            <a:pPr>
              <a:spcAft>
                <a:spcPts val="600"/>
              </a:spcAft>
            </a:pPr>
            <a:r>
              <a:rPr sz="1100" b="1">
                <a:solidFill>
                  <a:srgbClr val="F8FAFC"/>
                </a:solidFill>
                <a:latin typeface="Calibri"/>
              </a:rPr>
              <a:t>• Integrity Checks: </a:t>
            </a:r>
            <a:r>
              <a:rPr sz="1100">
                <a:solidFill>
                  <a:srgbClr val="94A3B8"/>
                </a:solidFill>
                <a:latin typeface="Calibri"/>
              </a:rPr>
              <a:t>CHECK (balance &gt;= 0) and optimistic locking (@Version).</a:t>
            </a:r>
          </a:p>
          <a:p>
            <a:pPr>
              <a:spcAft>
                <a:spcPts val="600"/>
              </a:spcAft>
            </a:pPr>
            <a:r>
              <a:rPr sz="1100" b="1">
                <a:solidFill>
                  <a:srgbClr val="F8FAFC"/>
                </a:solidFill>
                <a:latin typeface="Calibri"/>
              </a:rPr>
              <a:t>• Outbox Table: </a:t>
            </a:r>
            <a:r>
              <a:rPr sz="1100">
                <a:solidFill>
                  <a:srgbClr val="94A3B8"/>
                </a:solidFill>
                <a:latin typeface="Calibri"/>
              </a:rPr>
              <a:t>Transactional outbox for guaranteed event dispatch.</a:t>
            </a:r>
          </a:p>
        </p:txBody>
      </p:sp>
      <p:sp>
        <p:nvSpPr>
          <p:cNvPr id="13" name="Rounded Rectangle 12"/>
          <p:cNvSpPr/>
          <p:nvPr/>
        </p:nvSpPr>
        <p:spPr>
          <a:xfrm>
            <a:off x="8961120" y="1463040"/>
            <a:ext cx="256032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0" y="1600200"/>
            <a:ext cx="2194560" cy="411480"/>
          </a:xfrm>
          <a:prstGeom prst="rect">
            <a:avLst/>
          </a:prstGeom>
          <a:noFill/>
        </p:spPr>
        <p:txBody>
          <a:bodyPr wrap="square">
            <a:spAutoFit/>
          </a:bodyPr>
          <a:lstStyle/>
          <a:p>
            <a:pPr>
              <a:defRPr sz="1400" b="1">
                <a:solidFill>
                  <a:srgbClr val="8B5CF6"/>
                </a:solidFill>
                <a:latin typeface="Calibri"/>
              </a:defRPr>
            </a:pPr>
            <a:r>
              <a:t>Streaming &amp; Ops</a:t>
            </a:r>
          </a:p>
        </p:txBody>
      </p:sp>
      <p:sp>
        <p:nvSpPr>
          <p:cNvPr id="15" name="TextBox 14"/>
          <p:cNvSpPr txBox="1"/>
          <p:nvPr/>
        </p:nvSpPr>
        <p:spPr>
          <a:xfrm>
            <a:off x="9144000" y="2011680"/>
            <a:ext cx="2194560" cy="4069080"/>
          </a:xfrm>
          <a:prstGeom prst="rect">
            <a:avLst/>
          </a:prstGeom>
          <a:noFill/>
        </p:spPr>
        <p:txBody>
          <a:bodyPr wrap="square">
            <a:spAutoFit/>
          </a:bodyPr>
          <a:lstStyle/>
          <a:p>
            <a:pPr>
              <a:spcAft>
                <a:spcPts val="600"/>
              </a:spcAft>
            </a:pPr>
            <a:r>
              <a:rPr sz="1100" b="1">
                <a:solidFill>
                  <a:srgbClr val="F8FAFC"/>
                </a:solidFill>
                <a:latin typeface="Calibri"/>
              </a:rPr>
              <a:t>• Apache Kafka KRaft: </a:t>
            </a:r>
            <a:r>
              <a:rPr sz="1100">
                <a:solidFill>
                  <a:srgbClr val="94A3B8"/>
                </a:solidFill>
                <a:latin typeface="Calibri"/>
              </a:rPr>
              <a:t>High-throughput event streaming decoupled from HTTP thread pool.</a:t>
            </a:r>
          </a:p>
          <a:p>
            <a:pPr>
              <a:spcAft>
                <a:spcPts val="600"/>
              </a:spcAft>
            </a:pPr>
            <a:r>
              <a:rPr sz="1100" b="1">
                <a:solidFill>
                  <a:srgbClr val="F8FAFC"/>
                </a:solidFill>
                <a:latin typeface="Calibri"/>
              </a:rPr>
              <a:t>• AML Fraud Engine: </a:t>
            </a:r>
            <a:r>
              <a:rPr sz="1100">
                <a:solidFill>
                  <a:srgbClr val="94A3B8"/>
                </a:solidFill>
                <a:latin typeface="Calibri"/>
              </a:rPr>
              <a:t>Automated compliance screening flagging transactions &gt;= Rp 100M.</a:t>
            </a:r>
          </a:p>
          <a:p>
            <a:pPr>
              <a:spcAft>
                <a:spcPts val="600"/>
              </a:spcAft>
            </a:pPr>
            <a:r>
              <a:rPr sz="1100" b="1">
                <a:solidFill>
                  <a:srgbClr val="F8FAFC"/>
                </a:solidFill>
                <a:latin typeface="Calibri"/>
              </a:rPr>
              <a:t>• Dead-Letter Queue: </a:t>
            </a:r>
            <a:r>
              <a:rPr sz="1100">
                <a:solidFill>
                  <a:srgbClr val="94A3B8"/>
                </a:solidFill>
                <a:latin typeface="Calibri"/>
              </a:rPr>
              <a:t>Dead-lettering to bank.transfers.dlq with retry policies.</a:t>
            </a:r>
          </a:p>
          <a:p>
            <a:pPr>
              <a:spcAft>
                <a:spcPts val="600"/>
              </a:spcAft>
            </a:pPr>
            <a:r>
              <a:rPr sz="1100" b="1">
                <a:solidFill>
                  <a:srgbClr val="F8FAFC"/>
                </a:solidFill>
                <a:latin typeface="Calibri"/>
              </a:rPr>
              <a:t>• Prometheus Telemetry: </a:t>
            </a:r>
            <a:r>
              <a:rPr sz="1100">
                <a:solidFill>
                  <a:srgbClr val="94A3B8"/>
                </a:solidFill>
                <a:latin typeface="Calibri"/>
              </a:rPr>
              <a:t>Four Golden Signals exposed live at /actuator/prometheus.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FINANCIAL CONSISTENCY &amp; SAFETY</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Defensive Concurrency &amp; Zero-Loss Ledger Guarantees</a:t>
            </a:r>
          </a:p>
        </p:txBody>
      </p:sp>
      <p:sp>
        <p:nvSpPr>
          <p:cNvPr id="4" name="Rounded Rectangle 3"/>
          <p:cNvSpPr/>
          <p:nvPr/>
        </p:nvSpPr>
        <p:spPr>
          <a:xfrm>
            <a:off x="731520" y="1463040"/>
            <a:ext cx="5212080" cy="228600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411480"/>
          </a:xfrm>
          <a:prstGeom prst="rect">
            <a:avLst/>
          </a:prstGeom>
          <a:noFill/>
        </p:spPr>
        <p:txBody>
          <a:bodyPr wrap="square">
            <a:spAutoFit/>
          </a:bodyPr>
          <a:lstStyle/>
          <a:p>
            <a:pPr>
              <a:defRPr sz="1400" b="1">
                <a:solidFill>
                  <a:srgbClr val="0EA5E9"/>
                </a:solidFill>
                <a:latin typeface="Calibri"/>
              </a:defRPr>
            </a:pPr>
            <a:r>
              <a:t>1. Redis Idempotency State Machine</a:t>
            </a:r>
          </a:p>
        </p:txBody>
      </p:sp>
      <p:sp>
        <p:nvSpPr>
          <p:cNvPr id="6" name="TextBox 5"/>
          <p:cNvSpPr txBox="1"/>
          <p:nvPr/>
        </p:nvSpPr>
        <p:spPr>
          <a:xfrm>
            <a:off x="914400" y="2011680"/>
            <a:ext cx="4846320" cy="1600200"/>
          </a:xfrm>
          <a:prstGeom prst="rect">
            <a:avLst/>
          </a:prstGeom>
          <a:noFill/>
        </p:spPr>
        <p:txBody>
          <a:bodyPr wrap="square">
            <a:spAutoFit/>
          </a:bodyPr>
          <a:lstStyle/>
          <a:p>
            <a:pPr>
              <a:spcAft>
                <a:spcPts val="600"/>
              </a:spcAft>
            </a:pPr>
            <a:r>
              <a:rPr sz="1100" b="1">
                <a:solidFill>
                  <a:srgbClr val="F8FAFC"/>
                </a:solidFill>
                <a:latin typeface="Calibri"/>
              </a:rPr>
              <a:t>• Atomic Key Acquisition: </a:t>
            </a:r>
            <a:r>
              <a:rPr sz="1100">
                <a:solidFill>
                  <a:srgbClr val="94A3B8"/>
                </a:solidFill>
                <a:latin typeface="Calibri"/>
              </a:rPr>
              <a:t>SETNX indibank:idempotency:{key} IN_PROGRESS with 60s lock window.</a:t>
            </a:r>
          </a:p>
          <a:p>
            <a:pPr>
              <a:spcAft>
                <a:spcPts val="600"/>
              </a:spcAft>
            </a:pPr>
            <a:r>
              <a:rPr sz="1100" b="1">
                <a:solidFill>
                  <a:srgbClr val="F8FAFC"/>
                </a:solidFill>
                <a:latin typeface="Calibri"/>
              </a:rPr>
              <a:t>• In-Flight Deduplication: </a:t>
            </a:r>
            <a:r>
              <a:rPr sz="1100">
                <a:solidFill>
                  <a:srgbClr val="94A3B8"/>
                </a:solidFill>
                <a:latin typeface="Calibri"/>
              </a:rPr>
              <a:t>Concurrent requests with the same key receive HTTP 409 Conflict immediately.</a:t>
            </a:r>
          </a:p>
          <a:p>
            <a:pPr>
              <a:spcAft>
                <a:spcPts val="600"/>
              </a:spcAft>
            </a:pPr>
            <a:r>
              <a:rPr sz="1100" b="1">
                <a:solidFill>
                  <a:srgbClr val="F8FAFC"/>
                </a:solidFill>
                <a:latin typeface="Calibri"/>
              </a:rPr>
              <a:t>• 24-Hour Replay Cache: </a:t>
            </a:r>
            <a:r>
              <a:rPr sz="1100">
                <a:solidFill>
                  <a:srgbClr val="94A3B8"/>
                </a:solidFill>
                <a:latin typeface="Calibri"/>
              </a:rPr>
              <a:t>On settlement, complete HTTP response payload is cached for 86,400s.</a:t>
            </a:r>
          </a:p>
          <a:p>
            <a:pPr>
              <a:spcAft>
                <a:spcPts val="600"/>
              </a:spcAft>
            </a:pPr>
            <a:r>
              <a:rPr sz="1100" b="1">
                <a:solidFill>
                  <a:srgbClr val="F8FAFC"/>
                </a:solidFill>
                <a:latin typeface="Calibri"/>
              </a:rPr>
              <a:t>• Safe Retries: </a:t>
            </a:r>
            <a:r>
              <a:rPr sz="1100">
                <a:solidFill>
                  <a:srgbClr val="94A3B8"/>
                </a:solidFill>
                <a:latin typeface="Calibri"/>
              </a:rPr>
              <a:t>On validation error, key is released to allow corrected resubmissions.</a:t>
            </a:r>
          </a:p>
        </p:txBody>
      </p:sp>
      <p:sp>
        <p:nvSpPr>
          <p:cNvPr id="7" name="Rounded Rectangle 6"/>
          <p:cNvSpPr/>
          <p:nvPr/>
        </p:nvSpPr>
        <p:spPr>
          <a:xfrm>
            <a:off x="6217920" y="1463040"/>
            <a:ext cx="5212080" cy="228600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46320" cy="411480"/>
          </a:xfrm>
          <a:prstGeom prst="rect">
            <a:avLst/>
          </a:prstGeom>
          <a:noFill/>
        </p:spPr>
        <p:txBody>
          <a:bodyPr wrap="square">
            <a:spAutoFit/>
          </a:bodyPr>
          <a:lstStyle/>
          <a:p>
            <a:pPr>
              <a:defRPr sz="1400" b="1">
                <a:solidFill>
                  <a:srgbClr val="F59E0B"/>
                </a:solidFill>
                <a:latin typeface="Calibri"/>
              </a:defRPr>
            </a:pPr>
            <a:r>
              <a:t>2. Distributed Mutex &amp; Lua Release</a:t>
            </a:r>
          </a:p>
        </p:txBody>
      </p:sp>
      <p:sp>
        <p:nvSpPr>
          <p:cNvPr id="9" name="TextBox 8"/>
          <p:cNvSpPr txBox="1"/>
          <p:nvPr/>
        </p:nvSpPr>
        <p:spPr>
          <a:xfrm>
            <a:off x="6400800" y="2011680"/>
            <a:ext cx="4846320" cy="1600200"/>
          </a:xfrm>
          <a:prstGeom prst="rect">
            <a:avLst/>
          </a:prstGeom>
          <a:noFill/>
        </p:spPr>
        <p:txBody>
          <a:bodyPr wrap="square">
            <a:spAutoFit/>
          </a:bodyPr>
          <a:lstStyle/>
          <a:p>
            <a:pPr>
              <a:spcAft>
                <a:spcPts val="600"/>
              </a:spcAft>
            </a:pPr>
            <a:r>
              <a:rPr sz="1100" b="1">
                <a:solidFill>
                  <a:srgbClr val="F8FAFC"/>
                </a:solidFill>
                <a:latin typeface="Calibri"/>
              </a:rPr>
              <a:t>• Source Account Lock: </a:t>
            </a:r>
            <a:r>
              <a:rPr sz="1100">
                <a:solidFill>
                  <a:srgbClr val="94A3B8"/>
                </a:solidFill>
                <a:latin typeface="Calibri"/>
              </a:rPr>
              <a:t>SET indibank:lock:account:{acc} {UUID} NX PX 10000 ensures single-flight execution.</a:t>
            </a:r>
          </a:p>
          <a:p>
            <a:pPr>
              <a:spcAft>
                <a:spcPts val="600"/>
              </a:spcAft>
            </a:pPr>
            <a:r>
              <a:rPr sz="1100" b="1">
                <a:solidFill>
                  <a:srgbClr val="F8FAFC"/>
                </a:solidFill>
                <a:latin typeface="Calibri"/>
              </a:rPr>
              <a:t>• Auto-Expiry TTL: </a:t>
            </a:r>
            <a:r>
              <a:rPr sz="1100">
                <a:solidFill>
                  <a:srgbClr val="94A3B8"/>
                </a:solidFill>
                <a:latin typeface="Calibri"/>
              </a:rPr>
              <a:t>10-second TTL prevents deadlocks if a container crashes mid-flight.</a:t>
            </a:r>
          </a:p>
          <a:p>
            <a:pPr>
              <a:spcAft>
                <a:spcPts val="600"/>
              </a:spcAft>
            </a:pPr>
            <a:r>
              <a:rPr sz="1100" b="1">
                <a:solidFill>
                  <a:srgbClr val="F8FAFC"/>
                </a:solidFill>
                <a:latin typeface="Calibri"/>
              </a:rPr>
              <a:t>• Atomic Lua Release: </a:t>
            </a:r>
            <a:r>
              <a:rPr sz="1100">
                <a:solidFill>
                  <a:srgbClr val="94A3B8"/>
                </a:solidFill>
                <a:latin typeface="Calibri"/>
              </a:rPr>
              <a:t>Validates lock token ownership in Redis before deleting, preventing lock hijacking.</a:t>
            </a:r>
          </a:p>
          <a:p>
            <a:pPr>
              <a:spcAft>
                <a:spcPts val="600"/>
              </a:spcAft>
            </a:pPr>
            <a:r>
              <a:rPr sz="1100" b="1">
                <a:solidFill>
                  <a:srgbClr val="F8FAFC"/>
                </a:solidFill>
                <a:latin typeface="Calibri"/>
              </a:rPr>
              <a:t>• Graceful Contention: </a:t>
            </a:r>
            <a:r>
              <a:rPr sz="1100">
                <a:solidFill>
                  <a:srgbClr val="94A3B8"/>
                </a:solidFill>
                <a:latin typeface="Calibri"/>
              </a:rPr>
              <a:t>If lock cannot be acquired within timeout, returns 409 Conflict.</a:t>
            </a:r>
          </a:p>
        </p:txBody>
      </p:sp>
      <p:sp>
        <p:nvSpPr>
          <p:cNvPr id="10" name="Rounded Rectangle 9"/>
          <p:cNvSpPr/>
          <p:nvPr/>
        </p:nvSpPr>
        <p:spPr>
          <a:xfrm>
            <a:off x="731520" y="3931920"/>
            <a:ext cx="5212080" cy="237744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69080"/>
            <a:ext cx="4846320" cy="411480"/>
          </a:xfrm>
          <a:prstGeom prst="rect">
            <a:avLst/>
          </a:prstGeom>
          <a:noFill/>
        </p:spPr>
        <p:txBody>
          <a:bodyPr wrap="square">
            <a:spAutoFit/>
          </a:bodyPr>
          <a:lstStyle/>
          <a:p>
            <a:pPr>
              <a:defRPr sz="1400" b="1">
                <a:solidFill>
                  <a:srgbClr val="10B981"/>
                </a:solidFill>
                <a:latin typeface="Calibri"/>
              </a:defRPr>
            </a:pPr>
            <a:r>
              <a:t>3. Strict Double-Entry Bookkeeping</a:t>
            </a:r>
          </a:p>
        </p:txBody>
      </p:sp>
      <p:sp>
        <p:nvSpPr>
          <p:cNvPr id="12" name="TextBox 11"/>
          <p:cNvSpPr txBox="1"/>
          <p:nvPr/>
        </p:nvSpPr>
        <p:spPr>
          <a:xfrm>
            <a:off x="914400" y="4480560"/>
            <a:ext cx="4846320" cy="1691640"/>
          </a:xfrm>
          <a:prstGeom prst="rect">
            <a:avLst/>
          </a:prstGeom>
          <a:noFill/>
        </p:spPr>
        <p:txBody>
          <a:bodyPr wrap="square">
            <a:spAutoFit/>
          </a:bodyPr>
          <a:lstStyle/>
          <a:p>
            <a:pPr>
              <a:spcAft>
                <a:spcPts val="600"/>
              </a:spcAft>
            </a:pPr>
            <a:r>
              <a:rPr sz="1100" b="1">
                <a:solidFill>
                  <a:srgbClr val="F8FAFC"/>
                </a:solidFill>
                <a:latin typeface="Calibri"/>
              </a:rPr>
              <a:t>• Mathematical Balance: </a:t>
            </a:r>
            <a:r>
              <a:rPr sz="1100">
                <a:solidFill>
                  <a:srgbClr val="94A3B8"/>
                </a:solidFill>
                <a:latin typeface="Calibri"/>
              </a:rPr>
              <a:t>Every transfer generates matching DEBIT and CREDIT journal lines.</a:t>
            </a:r>
          </a:p>
          <a:p>
            <a:pPr>
              <a:spcAft>
                <a:spcPts val="600"/>
              </a:spcAft>
            </a:pPr>
            <a:r>
              <a:rPr sz="1100" b="1">
                <a:solidFill>
                  <a:srgbClr val="F8FAFC"/>
                </a:solidFill>
                <a:latin typeface="Calibri"/>
              </a:rPr>
              <a:t>• Zero Ledger Drift: </a:t>
            </a:r>
            <a:r>
              <a:rPr sz="1100">
                <a:solidFill>
                  <a:srgbClr val="94A3B8"/>
                </a:solidFill>
                <a:latin typeface="Calibri"/>
              </a:rPr>
              <a:t>Invariance guaranteed: |Debit - Credit| == 0.00 IDR across all transactions.</a:t>
            </a:r>
          </a:p>
          <a:p>
            <a:pPr>
              <a:spcAft>
                <a:spcPts val="600"/>
              </a:spcAft>
            </a:pPr>
            <a:r>
              <a:rPr sz="1100" b="1">
                <a:solidFill>
                  <a:srgbClr val="F8FAFC"/>
                </a:solidFill>
                <a:latin typeface="Calibri"/>
              </a:rPr>
              <a:t>• Immutable Ledger: </a:t>
            </a:r>
            <a:r>
              <a:rPr sz="1100">
                <a:solidFill>
                  <a:srgbClr val="94A3B8"/>
                </a:solidFill>
                <a:latin typeface="Calibri"/>
              </a:rPr>
              <a:t>Journal entries are append-only; historical entries are never updated or deleted.</a:t>
            </a:r>
          </a:p>
          <a:p>
            <a:pPr>
              <a:spcAft>
                <a:spcPts val="600"/>
              </a:spcAft>
            </a:pPr>
            <a:r>
              <a:rPr sz="1100" b="1">
                <a:solidFill>
                  <a:srgbClr val="F8FAFC"/>
                </a:solidFill>
                <a:latin typeface="Calibri"/>
              </a:rPr>
              <a:t>• Audit Statement API: </a:t>
            </a:r>
            <a:r>
              <a:rPr sz="1100">
                <a:solidFill>
                  <a:srgbClr val="94A3B8"/>
                </a:solidFill>
                <a:latin typeface="Calibri"/>
              </a:rPr>
              <a:t>Real-time historical account statement query via /api/v1/accounts/{acc}/statement.</a:t>
            </a:r>
          </a:p>
        </p:txBody>
      </p:sp>
      <p:sp>
        <p:nvSpPr>
          <p:cNvPr id="13" name="Rounded Rectangle 12"/>
          <p:cNvSpPr/>
          <p:nvPr/>
        </p:nvSpPr>
        <p:spPr>
          <a:xfrm>
            <a:off x="6217920" y="3931920"/>
            <a:ext cx="5212080" cy="237744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4069080"/>
            <a:ext cx="4846320" cy="411480"/>
          </a:xfrm>
          <a:prstGeom prst="rect">
            <a:avLst/>
          </a:prstGeom>
          <a:noFill/>
        </p:spPr>
        <p:txBody>
          <a:bodyPr wrap="square">
            <a:spAutoFit/>
          </a:bodyPr>
          <a:lstStyle/>
          <a:p>
            <a:pPr>
              <a:defRPr sz="1400" b="1">
                <a:solidFill>
                  <a:srgbClr val="8B5CF6"/>
                </a:solidFill>
                <a:latin typeface="Calibri"/>
              </a:defRPr>
            </a:pPr>
            <a:r>
              <a:t>4. Database Constraints &amp; Optimistic Locking</a:t>
            </a:r>
          </a:p>
        </p:txBody>
      </p:sp>
      <p:sp>
        <p:nvSpPr>
          <p:cNvPr id="15" name="TextBox 14"/>
          <p:cNvSpPr txBox="1"/>
          <p:nvPr/>
        </p:nvSpPr>
        <p:spPr>
          <a:xfrm>
            <a:off x="6400800" y="4480560"/>
            <a:ext cx="4846320" cy="1691640"/>
          </a:xfrm>
          <a:prstGeom prst="rect">
            <a:avLst/>
          </a:prstGeom>
          <a:noFill/>
        </p:spPr>
        <p:txBody>
          <a:bodyPr wrap="square">
            <a:spAutoFit/>
          </a:bodyPr>
          <a:lstStyle/>
          <a:p>
            <a:pPr>
              <a:spcAft>
                <a:spcPts val="600"/>
              </a:spcAft>
            </a:pPr>
            <a:r>
              <a:rPr sz="1100" b="1">
                <a:solidFill>
                  <a:srgbClr val="F8FAFC"/>
                </a:solidFill>
                <a:latin typeface="Calibri"/>
              </a:rPr>
              <a:t>• Non-Negative Balance: </a:t>
            </a:r>
            <a:r>
              <a:rPr sz="1100">
                <a:solidFill>
                  <a:srgbClr val="94A3B8"/>
                </a:solidFill>
                <a:latin typeface="Calibri"/>
              </a:rPr>
              <a:t>Oracle CHECK constraint (BALANCE &gt;= 0) physically prevents overdrafts.</a:t>
            </a:r>
          </a:p>
          <a:p>
            <a:pPr>
              <a:spcAft>
                <a:spcPts val="600"/>
              </a:spcAft>
            </a:pPr>
            <a:r>
              <a:rPr sz="1100" b="1">
                <a:solidFill>
                  <a:srgbClr val="F8FAFC"/>
                </a:solidFill>
                <a:latin typeface="Calibri"/>
              </a:rPr>
              <a:t>• Optimistic Locking: </a:t>
            </a:r>
            <a:r>
              <a:rPr sz="1100">
                <a:solidFill>
                  <a:srgbClr val="94A3B8"/>
                </a:solidFill>
                <a:latin typeface="Calibri"/>
              </a:rPr>
              <a:t>@Version column on ACCOUNTS prevents concurrent dirty read modifications.</a:t>
            </a:r>
          </a:p>
          <a:p>
            <a:pPr>
              <a:spcAft>
                <a:spcPts val="600"/>
              </a:spcAft>
            </a:pPr>
            <a:r>
              <a:rPr sz="1100" b="1">
                <a:solidFill>
                  <a:srgbClr val="F8FAFC"/>
                </a:solidFill>
                <a:latin typeface="Calibri"/>
              </a:rPr>
              <a:t>• Isolated Rollback: </a:t>
            </a:r>
            <a:r>
              <a:rPr sz="1100">
                <a:solidFill>
                  <a:srgbClr val="94A3B8"/>
                </a:solidFill>
                <a:latin typeface="Calibri"/>
              </a:rPr>
              <a:t>Spring @Transactional rolls back debit/credit and releases Redis locks on failure.</a:t>
            </a:r>
          </a:p>
          <a:p>
            <a:pPr>
              <a:spcAft>
                <a:spcPts val="600"/>
              </a:spcAft>
            </a:pPr>
            <a:r>
              <a:rPr sz="1100" b="1">
                <a:solidFill>
                  <a:srgbClr val="F8FAFC"/>
                </a:solidFill>
                <a:latin typeface="Calibri"/>
              </a:rPr>
              <a:t>• Transactional Outbox: </a:t>
            </a:r>
            <a:r>
              <a:rPr sz="1100">
                <a:solidFill>
                  <a:srgbClr val="94A3B8"/>
                </a:solidFill>
                <a:latin typeface="Calibri"/>
              </a:rPr>
              <a:t>Outbox table persists Kafka events inside the same Oracle transaction.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EVENT STREAMING &amp; COMPLIANCE</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Apache Kafka KRaft: Asynchronous Decoupling &amp; Real-Time AML</a:t>
            </a:r>
          </a:p>
        </p:txBody>
      </p:sp>
      <p:sp>
        <p:nvSpPr>
          <p:cNvPr id="4" name="Rounded Rectangle 3"/>
          <p:cNvSpPr/>
          <p:nvPr/>
        </p:nvSpPr>
        <p:spPr>
          <a:xfrm>
            <a:off x="731520" y="1463040"/>
            <a:ext cx="52120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411480"/>
          </a:xfrm>
          <a:prstGeom prst="rect">
            <a:avLst/>
          </a:prstGeom>
          <a:noFill/>
        </p:spPr>
        <p:txBody>
          <a:bodyPr wrap="square">
            <a:spAutoFit/>
          </a:bodyPr>
          <a:lstStyle/>
          <a:p>
            <a:pPr>
              <a:defRPr sz="1400" b="1">
                <a:solidFill>
                  <a:srgbClr val="8B5CF6"/>
                </a:solidFill>
                <a:latin typeface="Calibri"/>
              </a:defRPr>
            </a:pPr>
            <a:r>
              <a:t>Kafka KRaft Event Architecture</a:t>
            </a:r>
          </a:p>
        </p:txBody>
      </p:sp>
      <p:sp>
        <p:nvSpPr>
          <p:cNvPr id="6" name="TextBox 5"/>
          <p:cNvSpPr txBox="1"/>
          <p:nvPr/>
        </p:nvSpPr>
        <p:spPr>
          <a:xfrm>
            <a:off x="914400" y="2011680"/>
            <a:ext cx="4846320" cy="4069080"/>
          </a:xfrm>
          <a:prstGeom prst="rect">
            <a:avLst/>
          </a:prstGeom>
          <a:noFill/>
        </p:spPr>
        <p:txBody>
          <a:bodyPr wrap="square">
            <a:spAutoFit/>
          </a:bodyPr>
          <a:lstStyle/>
          <a:p>
            <a:pPr>
              <a:spcAft>
                <a:spcPts val="600"/>
              </a:spcAft>
            </a:pPr>
            <a:r>
              <a:rPr sz="1100" b="1">
                <a:solidFill>
                  <a:srgbClr val="F8FAFC"/>
                </a:solidFill>
                <a:latin typeface="Calibri"/>
              </a:rPr>
              <a:t>• Zookeeper-Less Architecture: </a:t>
            </a:r>
            <a:r>
              <a:rPr sz="1100">
                <a:solidFill>
                  <a:srgbClr val="94A3B8"/>
                </a:solidFill>
                <a:latin typeface="Calibri"/>
              </a:rPr>
              <a:t>Apache Kafka 3.7+ running in KRaft mode for lower latency, faster failover, and simplified ops.</a:t>
            </a:r>
          </a:p>
          <a:p>
            <a:pPr>
              <a:spcAft>
                <a:spcPts val="600"/>
              </a:spcAft>
            </a:pPr>
            <a:r>
              <a:rPr sz="1100" b="1">
                <a:solidFill>
                  <a:srgbClr val="F8FAFC"/>
                </a:solidFill>
                <a:latin typeface="Calibri"/>
              </a:rPr>
              <a:t>• Topic 1: bank.transfers.settled: </a:t>
            </a:r>
            <a:r>
              <a:rPr sz="1100">
                <a:solidFill>
                  <a:srgbClr val="94A3B8"/>
                </a:solidFill>
                <a:latin typeface="Calibri"/>
              </a:rPr>
              <a:t>Emitted immediately after Oracle ACID commit. Payload includes transfer reference, accounts, amount, and timestamp.</a:t>
            </a:r>
          </a:p>
          <a:p>
            <a:pPr>
              <a:spcAft>
                <a:spcPts val="600"/>
              </a:spcAft>
            </a:pPr>
            <a:r>
              <a:rPr sz="1100" b="1">
                <a:solidFill>
                  <a:srgbClr val="F8FAFC"/>
                </a:solidFill>
                <a:latin typeface="Calibri"/>
              </a:rPr>
              <a:t>• Topic 2: bank.fraud.alerts: </a:t>
            </a:r>
            <a:r>
              <a:rPr sz="1100">
                <a:solidFill>
                  <a:srgbClr val="94A3B8"/>
                </a:solidFill>
                <a:latin typeface="Calibri"/>
              </a:rPr>
              <a:t>Emitted by real-time AML worker whenever suspicious or high-value activity is detected.</a:t>
            </a:r>
          </a:p>
          <a:p>
            <a:pPr>
              <a:spcAft>
                <a:spcPts val="600"/>
              </a:spcAft>
            </a:pPr>
            <a:r>
              <a:rPr sz="1100" b="1">
                <a:solidFill>
                  <a:srgbClr val="F8FAFC"/>
                </a:solidFill>
                <a:latin typeface="Calibri"/>
              </a:rPr>
              <a:t>• Topic 3: bank.transfers.dlq: </a:t>
            </a:r>
            <a:r>
              <a:rPr sz="1100">
                <a:solidFill>
                  <a:srgbClr val="94A3B8"/>
                </a:solidFill>
                <a:latin typeface="Calibri"/>
              </a:rPr>
              <a:t>Dead-letter queue capturing failed messages after 3 retry attempts with exponential backoff.</a:t>
            </a:r>
          </a:p>
          <a:p>
            <a:pPr>
              <a:spcAft>
                <a:spcPts val="600"/>
              </a:spcAft>
            </a:pPr>
            <a:r>
              <a:rPr sz="1100" b="1">
                <a:solidFill>
                  <a:srgbClr val="F8FAFC"/>
                </a:solidFill>
                <a:latin typeface="Calibri"/>
              </a:rPr>
              <a:t>• Async Decoupling: </a:t>
            </a:r>
            <a:r>
              <a:rPr sz="1100">
                <a:solidFill>
                  <a:srgbClr val="94A3B8"/>
                </a:solidFill>
                <a:latin typeface="Calibri"/>
              </a:rPr>
              <a:t>User receives 201 Created immediately; downstream notifications and analytics process asynchronously.</a:t>
            </a:r>
          </a:p>
        </p:txBody>
      </p:sp>
      <p:sp>
        <p:nvSpPr>
          <p:cNvPr id="7" name="Rounded Rectangle 6"/>
          <p:cNvSpPr/>
          <p:nvPr/>
        </p:nvSpPr>
        <p:spPr>
          <a:xfrm>
            <a:off x="6217920" y="1463040"/>
            <a:ext cx="52120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46320" cy="411480"/>
          </a:xfrm>
          <a:prstGeom prst="rect">
            <a:avLst/>
          </a:prstGeom>
          <a:noFill/>
        </p:spPr>
        <p:txBody>
          <a:bodyPr wrap="square">
            <a:spAutoFit/>
          </a:bodyPr>
          <a:lstStyle/>
          <a:p>
            <a:pPr>
              <a:defRPr sz="1400" b="1">
                <a:solidFill>
                  <a:srgbClr val="F59E0B"/>
                </a:solidFill>
                <a:latin typeface="Calibri"/>
              </a:defRPr>
            </a:pPr>
            <a:r>
              <a:t>Real-Time AML Compliance Engine</a:t>
            </a:r>
          </a:p>
        </p:txBody>
      </p:sp>
      <p:sp>
        <p:nvSpPr>
          <p:cNvPr id="9" name="TextBox 8"/>
          <p:cNvSpPr txBox="1"/>
          <p:nvPr/>
        </p:nvSpPr>
        <p:spPr>
          <a:xfrm>
            <a:off x="6400800" y="2011680"/>
            <a:ext cx="4846320" cy="4069080"/>
          </a:xfrm>
          <a:prstGeom prst="rect">
            <a:avLst/>
          </a:prstGeom>
          <a:noFill/>
        </p:spPr>
        <p:txBody>
          <a:bodyPr wrap="square">
            <a:spAutoFit/>
          </a:bodyPr>
          <a:lstStyle/>
          <a:p>
            <a:pPr>
              <a:spcAft>
                <a:spcPts val="600"/>
              </a:spcAft>
            </a:pPr>
            <a:r>
              <a:rPr sz="1100" b="1">
                <a:solidFill>
                  <a:srgbClr val="F8FAFC"/>
                </a:solidFill>
                <a:latin typeface="Calibri"/>
              </a:rPr>
              <a:t>• High-Value Detection Rule: </a:t>
            </a:r>
            <a:r>
              <a:rPr sz="1100">
                <a:solidFill>
                  <a:srgbClr val="94A3B8"/>
                </a:solidFill>
                <a:latin typeface="Calibri"/>
              </a:rPr>
              <a:t>Automatically flags any single transfer &gt;= Rp 100,000,000 as CRITICAL AML risk.</a:t>
            </a:r>
          </a:p>
          <a:p>
            <a:pPr>
              <a:spcAft>
                <a:spcPts val="600"/>
              </a:spcAft>
            </a:pPr>
            <a:r>
              <a:rPr sz="1100" b="1">
                <a:solidFill>
                  <a:srgbClr val="F8FAFC"/>
                </a:solidFill>
                <a:latin typeface="Calibri"/>
              </a:rPr>
              <a:t>• Independent Consumer Group: </a:t>
            </a:r>
            <a:r>
              <a:rPr sz="1100">
                <a:solidFill>
                  <a:srgbClr val="94A3B8"/>
                </a:solidFill>
                <a:latin typeface="Calibri"/>
              </a:rPr>
              <a:t>Consumer group 'indibank-fraud-detector' consumes from bank.transfers.settled in parallel.</a:t>
            </a:r>
          </a:p>
          <a:p>
            <a:pPr>
              <a:spcAft>
                <a:spcPts val="600"/>
              </a:spcAft>
            </a:pPr>
            <a:r>
              <a:rPr sz="1100" b="1">
                <a:solidFill>
                  <a:srgbClr val="F8FAFC"/>
                </a:solidFill>
                <a:latin typeface="Calibri"/>
              </a:rPr>
              <a:t>• Compliance Alert Payload: </a:t>
            </a:r>
            <a:r>
              <a:rPr sz="1100">
                <a:solidFill>
                  <a:srgbClr val="94A3B8"/>
                </a:solidFill>
                <a:latin typeface="Calibri"/>
              </a:rPr>
              <a:t>Generates structured alert event with severity, risk reason, and compliance reference.</a:t>
            </a:r>
          </a:p>
          <a:p>
            <a:pPr>
              <a:spcAft>
                <a:spcPts val="600"/>
              </a:spcAft>
            </a:pPr>
            <a:r>
              <a:rPr sz="1100" b="1">
                <a:solidFill>
                  <a:srgbClr val="F8FAFC"/>
                </a:solidFill>
                <a:latin typeface="Calibri"/>
              </a:rPr>
              <a:t>• In-Memory Live Stream Ticker: </a:t>
            </a:r>
            <a:r>
              <a:rPr sz="1100">
                <a:solidFill>
                  <a:srgbClr val="94A3B8"/>
                </a:solidFill>
                <a:latin typeface="Calibri"/>
              </a:rPr>
              <a:t>RecentEventsTracker maintains an in-memory ring buffer exposed at /api/v1/events/recent.</a:t>
            </a:r>
          </a:p>
          <a:p>
            <a:pPr>
              <a:spcAft>
                <a:spcPts val="600"/>
              </a:spcAft>
            </a:pPr>
            <a:r>
              <a:rPr sz="1100" b="1">
                <a:solidFill>
                  <a:srgbClr val="F8FAFC"/>
                </a:solidFill>
                <a:latin typeface="Calibri"/>
              </a:rPr>
              <a:t>• Interactive UI Demonstration: </a:t>
            </a:r>
            <a:r>
              <a:rPr sz="1100">
                <a:solidFill>
                  <a:srgbClr val="94A3B8"/>
                </a:solidFill>
                <a:latin typeface="Calibri"/>
              </a:rPr>
              <a:t>Auditors and evaluators can watch the live Kafka event ticker update in real-time on our dashboard.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ENGINEERING METHODOLOGY</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Spec-Driven Development (SDD) &amp; Contract Governance</a:t>
            </a:r>
          </a:p>
        </p:txBody>
      </p:sp>
      <p:sp>
        <p:nvSpPr>
          <p:cNvPr id="4" name="Rounded Rectangle 3"/>
          <p:cNvSpPr/>
          <p:nvPr/>
        </p:nvSpPr>
        <p:spPr>
          <a:xfrm>
            <a:off x="7315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411480"/>
          </a:xfrm>
          <a:prstGeom prst="rect">
            <a:avLst/>
          </a:prstGeom>
          <a:noFill/>
        </p:spPr>
        <p:txBody>
          <a:bodyPr wrap="square">
            <a:spAutoFit/>
          </a:bodyPr>
          <a:lstStyle/>
          <a:p>
            <a:pPr>
              <a:defRPr sz="1400" b="1">
                <a:solidFill>
                  <a:srgbClr val="0EA5E9"/>
                </a:solidFill>
                <a:latin typeface="Calibri"/>
              </a:defRPr>
            </a:pPr>
            <a:r>
              <a:t>REST &amp; Async Contracts</a:t>
            </a:r>
          </a:p>
        </p:txBody>
      </p:sp>
      <p:sp>
        <p:nvSpPr>
          <p:cNvPr id="6" name="TextBox 5"/>
          <p:cNvSpPr txBox="1"/>
          <p:nvPr/>
        </p:nvSpPr>
        <p:spPr>
          <a:xfrm>
            <a:off x="9144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OpenAPI 3.1 Spec: </a:t>
            </a:r>
            <a:r>
              <a:rPr sz="1100">
                <a:solidFill>
                  <a:srgbClr val="94A3B8"/>
                </a:solidFill>
                <a:latin typeface="Calibri"/>
              </a:rPr>
              <a:t>spec/openapi.yaml defines all endpoints, parameters, request/response bodies, and validation schemas.</a:t>
            </a:r>
          </a:p>
          <a:p>
            <a:pPr>
              <a:spcAft>
                <a:spcPts val="600"/>
              </a:spcAft>
            </a:pPr>
            <a:r>
              <a:rPr sz="1100" b="1">
                <a:solidFill>
                  <a:srgbClr val="F8FAFC"/>
                </a:solidFill>
                <a:latin typeface="Calibri"/>
              </a:rPr>
              <a:t>• Live Swagger UI: </a:t>
            </a:r>
            <a:r>
              <a:rPr sz="1100">
                <a:solidFill>
                  <a:srgbClr val="94A3B8"/>
                </a:solidFill>
                <a:latin typeface="Calibri"/>
              </a:rPr>
              <a:t>Auto-generated from OpenAPI 3.1, available live at /swagger-ui.html with full 'Try It Out' capability.</a:t>
            </a:r>
          </a:p>
          <a:p>
            <a:pPr>
              <a:spcAft>
                <a:spcPts val="600"/>
              </a:spcAft>
            </a:pPr>
            <a:r>
              <a:rPr sz="1100" b="1">
                <a:solidFill>
                  <a:srgbClr val="F8FAFC"/>
                </a:solidFill>
                <a:latin typeface="Calibri"/>
              </a:rPr>
              <a:t>• AsyncAPI 3.0 Spec: </a:t>
            </a:r>
            <a:r>
              <a:rPr sz="1100">
                <a:solidFill>
                  <a:srgbClr val="94A3B8"/>
                </a:solidFill>
                <a:latin typeface="Calibri"/>
              </a:rPr>
              <a:t>spec/asyncapi.yaml defines Kafka event streaming contracts, message schemas, and channel bindings.</a:t>
            </a:r>
          </a:p>
          <a:p>
            <a:pPr>
              <a:spcAft>
                <a:spcPts val="600"/>
              </a:spcAft>
            </a:pPr>
            <a:r>
              <a:rPr sz="1100" b="1">
                <a:solidFill>
                  <a:srgbClr val="F8FAFC"/>
                </a:solidFill>
                <a:latin typeface="Calibri"/>
              </a:rPr>
              <a:t>• Multi-Environment: </a:t>
            </a:r>
            <a:r>
              <a:rPr sz="1100">
                <a:solidFill>
                  <a:srgbClr val="94A3B8"/>
                </a:solidFill>
                <a:latin typeface="Calibri"/>
              </a:rPr>
              <a:t>Contracts specify production GKE, test preview, and local dev environments.</a:t>
            </a:r>
          </a:p>
        </p:txBody>
      </p:sp>
      <p:sp>
        <p:nvSpPr>
          <p:cNvPr id="7" name="Rounded Rectangle 6"/>
          <p:cNvSpPr/>
          <p:nvPr/>
        </p:nvSpPr>
        <p:spPr>
          <a:xfrm>
            <a:off x="43891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00200"/>
            <a:ext cx="3017520" cy="411480"/>
          </a:xfrm>
          <a:prstGeom prst="rect">
            <a:avLst/>
          </a:prstGeom>
          <a:noFill/>
        </p:spPr>
        <p:txBody>
          <a:bodyPr wrap="square">
            <a:spAutoFit/>
          </a:bodyPr>
          <a:lstStyle/>
          <a:p>
            <a:pPr>
              <a:defRPr sz="1400" b="1">
                <a:solidFill>
                  <a:srgbClr val="F59E0B"/>
                </a:solidFill>
                <a:latin typeface="Calibri"/>
              </a:defRPr>
            </a:pPr>
            <a:r>
              <a:t>Database &amp; Cache Specs</a:t>
            </a:r>
          </a:p>
        </p:txBody>
      </p:sp>
      <p:sp>
        <p:nvSpPr>
          <p:cNvPr id="9" name="TextBox 8"/>
          <p:cNvSpPr txBox="1"/>
          <p:nvPr/>
        </p:nvSpPr>
        <p:spPr>
          <a:xfrm>
            <a:off x="45720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Oracle 23c Relational DDL: </a:t>
            </a:r>
            <a:r>
              <a:rPr sz="1100">
                <a:solidFill>
                  <a:srgbClr val="94A3B8"/>
                </a:solidFill>
                <a:latin typeface="Calibri"/>
              </a:rPr>
              <a:t>spec/database-schema.sql defines tables, identity columns, foreign keys, and CHECK constraints.</a:t>
            </a:r>
          </a:p>
          <a:p>
            <a:pPr>
              <a:spcAft>
                <a:spcPts val="600"/>
              </a:spcAft>
            </a:pPr>
            <a:r>
              <a:rPr sz="1100" b="1">
                <a:solidFill>
                  <a:srgbClr val="F8FAFC"/>
                </a:solidFill>
                <a:latin typeface="Calibri"/>
              </a:rPr>
              <a:t>• Double-Entry Ledger Schema: </a:t>
            </a:r>
            <a:r>
              <a:rPr sz="1100">
                <a:solidFill>
                  <a:srgbClr val="94A3B8"/>
                </a:solidFill>
                <a:latin typeface="Calibri"/>
              </a:rPr>
              <a:t>JOURNAL_ENTRIES table with strict DEBIT/CREDIT ENUM and non-negative balance checks.</a:t>
            </a:r>
          </a:p>
          <a:p>
            <a:pPr>
              <a:spcAft>
                <a:spcPts val="600"/>
              </a:spcAft>
            </a:pPr>
            <a:r>
              <a:rPr sz="1100" b="1">
                <a:solidFill>
                  <a:srgbClr val="F8FAFC"/>
                </a:solidFill>
                <a:latin typeface="Calibri"/>
              </a:rPr>
              <a:t>• Redis Concurrency Spec: </a:t>
            </a:r>
            <a:r>
              <a:rPr sz="1100">
                <a:solidFill>
                  <a:srgbClr val="94A3B8"/>
                </a:solidFill>
                <a:latin typeface="Calibri"/>
              </a:rPr>
              <a:t>spec/redis-spec.md defines key namespaces, TTL expiry policies, and Lua locking scripts.</a:t>
            </a:r>
          </a:p>
          <a:p>
            <a:pPr>
              <a:spcAft>
                <a:spcPts val="600"/>
              </a:spcAft>
            </a:pPr>
            <a:r>
              <a:rPr sz="1100" b="1">
                <a:solidFill>
                  <a:srgbClr val="F8FAFC"/>
                </a:solidFill>
                <a:latin typeface="Calibri"/>
              </a:rPr>
              <a:t>• Seed Data &amp; Baseline: </a:t>
            </a:r>
            <a:r>
              <a:rPr sz="1100">
                <a:solidFill>
                  <a:srgbClr val="94A3B8"/>
                </a:solidFill>
                <a:latin typeface="Calibri"/>
              </a:rPr>
              <a:t>5 pre-seeded banking accounts for corporate, retail, payroll, and interbank clearing.</a:t>
            </a:r>
          </a:p>
        </p:txBody>
      </p:sp>
      <p:sp>
        <p:nvSpPr>
          <p:cNvPr id="10" name="Rounded Rectangle 9"/>
          <p:cNvSpPr/>
          <p:nvPr/>
        </p:nvSpPr>
        <p:spPr>
          <a:xfrm>
            <a:off x="80467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411480"/>
          </a:xfrm>
          <a:prstGeom prst="rect">
            <a:avLst/>
          </a:prstGeom>
          <a:noFill/>
        </p:spPr>
        <p:txBody>
          <a:bodyPr wrap="square">
            <a:spAutoFit/>
          </a:bodyPr>
          <a:lstStyle/>
          <a:p>
            <a:pPr>
              <a:defRPr sz="1400" b="1">
                <a:solidFill>
                  <a:srgbClr val="10B981"/>
                </a:solidFill>
                <a:latin typeface="Calibri"/>
              </a:defRPr>
            </a:pPr>
            <a:r>
              <a:t>Standardized RFC 7807 Errors</a:t>
            </a:r>
          </a:p>
        </p:txBody>
      </p:sp>
      <p:sp>
        <p:nvSpPr>
          <p:cNvPr id="12" name="TextBox 11"/>
          <p:cNvSpPr txBox="1"/>
          <p:nvPr/>
        </p:nvSpPr>
        <p:spPr>
          <a:xfrm>
            <a:off x="82296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RFC 7807 Problem Details: </a:t>
            </a:r>
            <a:r>
              <a:rPr sz="1100">
                <a:solidFill>
                  <a:srgbClr val="94A3B8"/>
                </a:solidFill>
                <a:latin typeface="Calibri"/>
              </a:rPr>
              <a:t>All error responses conform to the standard banking error contract (ApiErrorDto).</a:t>
            </a:r>
          </a:p>
          <a:p>
            <a:pPr>
              <a:spcAft>
                <a:spcPts val="600"/>
              </a:spcAft>
            </a:pPr>
            <a:r>
              <a:rPr sz="1100" b="1">
                <a:solidFill>
                  <a:srgbClr val="F8FAFC"/>
                </a:solidFill>
                <a:latin typeface="Calibri"/>
              </a:rPr>
              <a:t>• HTTP 400 Bad Request: </a:t>
            </a:r>
            <a:r>
              <a:rPr sz="1100">
                <a:solidFill>
                  <a:srgbClr val="94A3B8"/>
                </a:solidFill>
                <a:latin typeface="Calibri"/>
              </a:rPr>
              <a:t>Missing headers, invalid 10-digit account formatting, or payload schema violations.</a:t>
            </a:r>
          </a:p>
          <a:p>
            <a:pPr>
              <a:spcAft>
                <a:spcPts val="600"/>
              </a:spcAft>
            </a:pPr>
            <a:r>
              <a:rPr sz="1100" b="1">
                <a:solidFill>
                  <a:srgbClr val="F8FAFC"/>
                </a:solidFill>
                <a:latin typeface="Calibri"/>
              </a:rPr>
              <a:t>• HTTP 409 Conflict: </a:t>
            </a:r>
            <a:r>
              <a:rPr sz="1100">
                <a:solidFill>
                  <a:srgbClr val="94A3B8"/>
                </a:solidFill>
                <a:latin typeface="Calibri"/>
              </a:rPr>
              <a:t>Duplicate transfer in-flight or distributed account lock contention.</a:t>
            </a:r>
          </a:p>
          <a:p>
            <a:pPr>
              <a:spcAft>
                <a:spcPts val="600"/>
              </a:spcAft>
            </a:pPr>
            <a:r>
              <a:rPr sz="1100" b="1">
                <a:solidFill>
                  <a:srgbClr val="F8FAFC"/>
                </a:solidFill>
                <a:latin typeface="Calibri"/>
              </a:rPr>
              <a:t>• HTTP 422 Unprocessable: </a:t>
            </a:r>
            <a:r>
              <a:rPr sz="1100">
                <a:solidFill>
                  <a:srgbClr val="94A3B8"/>
                </a:solidFill>
                <a:latin typeface="Calibri"/>
              </a:rPr>
              <a:t>Domain rule violations: insufficient funds, inactive accounts, or negative amounts.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QUALITY ASSURANCE &amp; COVERAGE BARRIER</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3-Tier Testing Pyramid &amp; JaCoCo Coverage Barrier</a:t>
            </a:r>
          </a:p>
        </p:txBody>
      </p:sp>
      <p:sp>
        <p:nvSpPr>
          <p:cNvPr id="4" name="Rounded Rectangle 3"/>
          <p:cNvSpPr/>
          <p:nvPr/>
        </p:nvSpPr>
        <p:spPr>
          <a:xfrm>
            <a:off x="731520" y="1463040"/>
            <a:ext cx="3383280" cy="393192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411480"/>
          </a:xfrm>
          <a:prstGeom prst="rect">
            <a:avLst/>
          </a:prstGeom>
          <a:noFill/>
        </p:spPr>
        <p:txBody>
          <a:bodyPr wrap="square">
            <a:spAutoFit/>
          </a:bodyPr>
          <a:lstStyle/>
          <a:p>
            <a:pPr>
              <a:defRPr sz="1400" b="1">
                <a:solidFill>
                  <a:srgbClr val="0EA5E9"/>
                </a:solidFill>
                <a:latin typeface="Calibri"/>
              </a:defRPr>
            </a:pPr>
            <a:r>
              <a:t>Tier 1: Unit Test Suite</a:t>
            </a:r>
          </a:p>
        </p:txBody>
      </p:sp>
      <p:sp>
        <p:nvSpPr>
          <p:cNvPr id="6" name="TextBox 5"/>
          <p:cNvSpPr txBox="1"/>
          <p:nvPr/>
        </p:nvSpPr>
        <p:spPr>
          <a:xfrm>
            <a:off x="914400" y="2011680"/>
            <a:ext cx="3017520" cy="3246120"/>
          </a:xfrm>
          <a:prstGeom prst="rect">
            <a:avLst/>
          </a:prstGeom>
          <a:noFill/>
        </p:spPr>
        <p:txBody>
          <a:bodyPr wrap="square">
            <a:spAutoFit/>
          </a:bodyPr>
          <a:lstStyle/>
          <a:p>
            <a:pPr>
              <a:spcAft>
                <a:spcPts val="600"/>
              </a:spcAft>
            </a:pPr>
            <a:r>
              <a:rPr sz="1100" b="1">
                <a:solidFill>
                  <a:srgbClr val="F8FAFC"/>
                </a:solidFill>
                <a:latin typeface="Calibri"/>
              </a:rPr>
              <a:t>• Domain &amp; Business Logic: </a:t>
            </a:r>
            <a:r>
              <a:rPr sz="1100">
                <a:solidFill>
                  <a:srgbClr val="94A3B8"/>
                </a:solidFill>
                <a:latin typeface="Calibri"/>
              </a:rPr>
              <a:t>Comprehensive unit tests covering TransferService, AccountService, and IdempotencyService.</a:t>
            </a:r>
          </a:p>
          <a:p>
            <a:pPr>
              <a:spcAft>
                <a:spcPts val="600"/>
              </a:spcAft>
            </a:pPr>
            <a:r>
              <a:rPr sz="1100" b="1">
                <a:solidFill>
                  <a:srgbClr val="F8FAFC"/>
                </a:solidFill>
                <a:latin typeface="Calibri"/>
              </a:rPr>
              <a:t>• Isolated Mocking: </a:t>
            </a:r>
            <a:r>
              <a:rPr sz="1100">
                <a:solidFill>
                  <a:srgbClr val="94A3B8"/>
                </a:solidFill>
                <a:latin typeface="Calibri"/>
              </a:rPr>
              <a:t>Mockito verification of Redis lock acquisition, Lua release, and Oracle transaction rollback.</a:t>
            </a:r>
          </a:p>
          <a:p>
            <a:pPr>
              <a:spcAft>
                <a:spcPts val="600"/>
              </a:spcAft>
            </a:pPr>
            <a:r>
              <a:rPr sz="1100" b="1">
                <a:solidFill>
                  <a:srgbClr val="F8FAFC"/>
                </a:solidFill>
                <a:latin typeface="Calibri"/>
              </a:rPr>
              <a:t>• Negative &amp; Edge Cases: </a:t>
            </a:r>
            <a:r>
              <a:rPr sz="1100">
                <a:solidFill>
                  <a:srgbClr val="94A3B8"/>
                </a:solidFill>
                <a:latin typeface="Calibri"/>
              </a:rPr>
              <a:t>Exhaustive tests for zero balances, transfer to self, and currency mismatch.</a:t>
            </a:r>
          </a:p>
          <a:p>
            <a:pPr>
              <a:spcAft>
                <a:spcPts val="600"/>
              </a:spcAft>
            </a:pPr>
            <a:r>
              <a:rPr sz="1100" b="1">
                <a:solidFill>
                  <a:srgbClr val="F8FAFC"/>
                </a:solidFill>
                <a:latin typeface="Calibri"/>
              </a:rPr>
              <a:t>• Kafka Producer &amp; Consumer: </a:t>
            </a:r>
            <a:r>
              <a:rPr sz="1100">
                <a:solidFill>
                  <a:srgbClr val="94A3B8"/>
                </a:solidFill>
                <a:latin typeface="Calibri"/>
              </a:rPr>
              <a:t>Verified event publication, fraud rule triggering, and DLQ dispatching.</a:t>
            </a:r>
          </a:p>
        </p:txBody>
      </p:sp>
      <p:sp>
        <p:nvSpPr>
          <p:cNvPr id="7" name="Rounded Rectangle 6"/>
          <p:cNvSpPr/>
          <p:nvPr/>
        </p:nvSpPr>
        <p:spPr>
          <a:xfrm>
            <a:off x="4389120" y="1463040"/>
            <a:ext cx="3383280" cy="393192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00200"/>
            <a:ext cx="3017520" cy="411480"/>
          </a:xfrm>
          <a:prstGeom prst="rect">
            <a:avLst/>
          </a:prstGeom>
          <a:noFill/>
        </p:spPr>
        <p:txBody>
          <a:bodyPr wrap="square">
            <a:spAutoFit/>
          </a:bodyPr>
          <a:lstStyle/>
          <a:p>
            <a:pPr>
              <a:defRPr sz="1400" b="1">
                <a:solidFill>
                  <a:srgbClr val="F59E0B"/>
                </a:solidFill>
                <a:latin typeface="Calibri"/>
              </a:defRPr>
            </a:pPr>
            <a:r>
              <a:t>Tier 2: WebMvc Integration</a:t>
            </a:r>
          </a:p>
        </p:txBody>
      </p:sp>
      <p:sp>
        <p:nvSpPr>
          <p:cNvPr id="9" name="TextBox 8"/>
          <p:cNvSpPr txBox="1"/>
          <p:nvPr/>
        </p:nvSpPr>
        <p:spPr>
          <a:xfrm>
            <a:off x="4572000" y="2011680"/>
            <a:ext cx="3017520" cy="3246120"/>
          </a:xfrm>
          <a:prstGeom prst="rect">
            <a:avLst/>
          </a:prstGeom>
          <a:noFill/>
        </p:spPr>
        <p:txBody>
          <a:bodyPr wrap="square">
            <a:spAutoFit/>
          </a:bodyPr>
          <a:lstStyle/>
          <a:p>
            <a:pPr>
              <a:spcAft>
                <a:spcPts val="600"/>
              </a:spcAft>
            </a:pPr>
            <a:r>
              <a:rPr sz="1100" b="1">
                <a:solidFill>
                  <a:srgbClr val="F8FAFC"/>
                </a:solidFill>
                <a:latin typeface="Calibri"/>
              </a:rPr>
              <a:t>• MockMvc HTTP Verification: </a:t>
            </a:r>
            <a:r>
              <a:rPr sz="1100">
                <a:solidFill>
                  <a:srgbClr val="94A3B8"/>
                </a:solidFill>
                <a:latin typeface="Calibri"/>
              </a:rPr>
              <a:t>@WebMvcTest testing TransferController and AccountController in isolated web slice.</a:t>
            </a:r>
          </a:p>
          <a:p>
            <a:pPr>
              <a:spcAft>
                <a:spcPts val="600"/>
              </a:spcAft>
            </a:pPr>
            <a:r>
              <a:rPr sz="1100" b="1">
                <a:solidFill>
                  <a:srgbClr val="F8FAFC"/>
                </a:solidFill>
                <a:latin typeface="Calibri"/>
              </a:rPr>
              <a:t>• Header &amp; Bean Validation: </a:t>
            </a:r>
            <a:r>
              <a:rPr sz="1100">
                <a:solidFill>
                  <a:srgbClr val="94A3B8"/>
                </a:solidFill>
                <a:latin typeface="Calibri"/>
              </a:rPr>
              <a:t>Tests required Idempotency-Key header, @Pattern 10-digit check, and @DecimalMax limits.</a:t>
            </a:r>
          </a:p>
          <a:p>
            <a:pPr>
              <a:spcAft>
                <a:spcPts val="600"/>
              </a:spcAft>
            </a:pPr>
            <a:r>
              <a:rPr sz="1100" b="1">
                <a:solidFill>
                  <a:srgbClr val="F8FAFC"/>
                </a:solidFill>
                <a:latin typeface="Calibri"/>
              </a:rPr>
              <a:t>• Global Exception Mapping: </a:t>
            </a:r>
            <a:r>
              <a:rPr sz="1100">
                <a:solidFill>
                  <a:srgbClr val="94A3B8"/>
                </a:solidFill>
                <a:latin typeface="Calibri"/>
              </a:rPr>
              <a:t>Verifies automatic mapping to RFC 7807 HTTP 400, 404, 409, and 422 status codes.</a:t>
            </a:r>
          </a:p>
          <a:p>
            <a:pPr>
              <a:spcAft>
                <a:spcPts val="600"/>
              </a:spcAft>
            </a:pPr>
            <a:r>
              <a:rPr sz="1100" b="1">
                <a:solidFill>
                  <a:srgbClr val="F8FAFC"/>
                </a:solidFill>
                <a:latin typeface="Calibri"/>
              </a:rPr>
              <a:t>• DTO JSON Serialization: </a:t>
            </a:r>
            <a:r>
              <a:rPr sz="1100">
                <a:solidFill>
                  <a:srgbClr val="94A3B8"/>
                </a:solidFill>
                <a:latin typeface="Calibri"/>
              </a:rPr>
              <a:t>Ensures ISO-8601 timestamps, BigDecimal precision, and response headers.</a:t>
            </a:r>
          </a:p>
        </p:txBody>
      </p:sp>
      <p:sp>
        <p:nvSpPr>
          <p:cNvPr id="10" name="Rounded Rectangle 9"/>
          <p:cNvSpPr/>
          <p:nvPr/>
        </p:nvSpPr>
        <p:spPr>
          <a:xfrm>
            <a:off x="8046720" y="1463040"/>
            <a:ext cx="3383280" cy="393192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411480"/>
          </a:xfrm>
          <a:prstGeom prst="rect">
            <a:avLst/>
          </a:prstGeom>
          <a:noFill/>
        </p:spPr>
        <p:txBody>
          <a:bodyPr wrap="square">
            <a:spAutoFit/>
          </a:bodyPr>
          <a:lstStyle/>
          <a:p>
            <a:pPr>
              <a:defRPr sz="1400" b="1">
                <a:solidFill>
                  <a:srgbClr val="10B981"/>
                </a:solidFill>
                <a:latin typeface="Calibri"/>
              </a:defRPr>
            </a:pPr>
            <a:r>
              <a:t>Tier 3: Live End-to-End E2E</a:t>
            </a:r>
          </a:p>
        </p:txBody>
      </p:sp>
      <p:sp>
        <p:nvSpPr>
          <p:cNvPr id="12" name="TextBox 11"/>
          <p:cNvSpPr txBox="1"/>
          <p:nvPr/>
        </p:nvSpPr>
        <p:spPr>
          <a:xfrm>
            <a:off x="8229600" y="2011680"/>
            <a:ext cx="3017520" cy="3246120"/>
          </a:xfrm>
          <a:prstGeom prst="rect">
            <a:avLst/>
          </a:prstGeom>
          <a:noFill/>
        </p:spPr>
        <p:txBody>
          <a:bodyPr wrap="square">
            <a:spAutoFit/>
          </a:bodyPr>
          <a:lstStyle/>
          <a:p>
            <a:pPr>
              <a:spcAft>
                <a:spcPts val="600"/>
              </a:spcAft>
            </a:pPr>
            <a:r>
              <a:rPr sz="1100" b="1">
                <a:solidFill>
                  <a:srgbClr val="F8FAFC"/>
                </a:solidFill>
                <a:latin typeface="Calibri"/>
              </a:rPr>
              <a:t>• Live GKE Execution: </a:t>
            </a:r>
            <a:r>
              <a:rPr sz="1100">
                <a:solidFill>
                  <a:srgbClr val="94A3B8"/>
                </a:solidFill>
                <a:latin typeface="Calibri"/>
              </a:rPr>
              <a:t>test-scenarios.sh runs 7 real-world banking journeys against live production and preview domains.</a:t>
            </a:r>
          </a:p>
          <a:p>
            <a:pPr>
              <a:spcAft>
                <a:spcPts val="600"/>
              </a:spcAft>
            </a:pPr>
            <a:r>
              <a:rPr sz="1100" b="1">
                <a:solidFill>
                  <a:srgbClr val="F8FAFC"/>
                </a:solidFill>
                <a:latin typeface="Calibri"/>
              </a:rPr>
              <a:t>• Scenario 1: Accounts Query: </a:t>
            </a:r>
            <a:r>
              <a:rPr sz="1100">
                <a:solidFill>
                  <a:srgbClr val="94A3B8"/>
                </a:solidFill>
                <a:latin typeface="Calibri"/>
              </a:rPr>
              <a:t>Queries initial balances from live Oracle DB.</a:t>
            </a:r>
          </a:p>
          <a:p>
            <a:pPr>
              <a:spcAft>
                <a:spcPts val="600"/>
              </a:spcAft>
            </a:pPr>
            <a:r>
              <a:rPr sz="1100" b="1">
                <a:solidFill>
                  <a:srgbClr val="F8FAFC"/>
                </a:solidFill>
                <a:latin typeface="Calibri"/>
              </a:rPr>
              <a:t>• Scenario 2 &amp; 3: Idempotency: </a:t>
            </a:r>
            <a:r>
              <a:rPr sz="1100">
                <a:solidFill>
                  <a:srgbClr val="94A3B8"/>
                </a:solidFill>
                <a:latin typeface="Calibri"/>
              </a:rPr>
              <a:t>Executes transfer, then replays exact same key to verify identical cached receipt.</a:t>
            </a:r>
          </a:p>
          <a:p>
            <a:pPr>
              <a:spcAft>
                <a:spcPts val="600"/>
              </a:spcAft>
            </a:pPr>
            <a:r>
              <a:rPr sz="1100" b="1">
                <a:solidFill>
                  <a:srgbClr val="F8FAFC"/>
                </a:solidFill>
                <a:latin typeface="Calibri"/>
              </a:rPr>
              <a:t>• Scenario 4 &amp; 5: AML Kafka: </a:t>
            </a:r>
            <a:r>
              <a:rPr sz="1100">
                <a:solidFill>
                  <a:srgbClr val="94A3B8"/>
                </a:solidFill>
                <a:latin typeface="Calibri"/>
              </a:rPr>
              <a:t>Executes Rp 150M transfer and verifies live Kafka fraud alert stream ticker.</a:t>
            </a:r>
          </a:p>
          <a:p>
            <a:pPr>
              <a:spcAft>
                <a:spcPts val="600"/>
              </a:spcAft>
            </a:pPr>
            <a:r>
              <a:rPr sz="1100" b="1">
                <a:solidFill>
                  <a:srgbClr val="F8FAFC"/>
                </a:solidFill>
                <a:latin typeface="Calibri"/>
              </a:rPr>
              <a:t>• Scenario 6 &amp; 7: Audit &amp; Limits: </a:t>
            </a:r>
            <a:r>
              <a:rPr sz="1100">
                <a:solidFill>
                  <a:srgbClr val="94A3B8"/>
                </a:solidFill>
                <a:latin typeface="Calibri"/>
              </a:rPr>
              <a:t>Verifies Oracle double-entry journal balance and insufficient balance 422 error.</a:t>
            </a:r>
          </a:p>
        </p:txBody>
      </p:sp>
      <p:sp>
        <p:nvSpPr>
          <p:cNvPr id="13" name="Rounded Rectangle 12"/>
          <p:cNvSpPr/>
          <p:nvPr/>
        </p:nvSpPr>
        <p:spPr>
          <a:xfrm>
            <a:off x="731520" y="5486400"/>
            <a:ext cx="10698480" cy="822960"/>
          </a:xfrm>
          <a:prstGeom prst="roundRect">
            <a:avLst/>
          </a:prstGeom>
          <a:solidFill>
            <a:srgbClr val="1A2639"/>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0B981"/>
                </a:solidFill>
                <a:latin typeface="Calibri"/>
              </a:defRPr>
            </a:pPr>
            <a:r>
              <a:t>🏆 MANDATORY QUALITY BARRIER: &gt;= 95% COVERAGE ENFORCED IN CI/CD</a:t>
            </a:r>
          </a:p>
          <a:p>
            <a:pPr>
              <a:defRPr sz="1200" b="1">
                <a:solidFill>
                  <a:srgbClr val="F8FAFC"/>
                </a:solidFill>
                <a:latin typeface="Calibri"/>
              </a:defRPr>
            </a:pPr>
            <a:r>
              <a:t>Verified Results: 70 Tests Passing • 99.27% Line Coverage (410/413) • 99.04% Instruction Coverage (1,652/1,668)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SITE RELIABILITY ENGINEERING</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Production SRE Framework, SLOs, &amp; Real-Time Telemetry</a:t>
            </a:r>
          </a:p>
        </p:txBody>
      </p:sp>
      <p:sp>
        <p:nvSpPr>
          <p:cNvPr id="4" name="Rounded Rectangle 3"/>
          <p:cNvSpPr/>
          <p:nvPr/>
        </p:nvSpPr>
        <p:spPr>
          <a:xfrm>
            <a:off x="7315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411480"/>
          </a:xfrm>
          <a:prstGeom prst="rect">
            <a:avLst/>
          </a:prstGeom>
          <a:noFill/>
        </p:spPr>
        <p:txBody>
          <a:bodyPr wrap="square">
            <a:spAutoFit/>
          </a:bodyPr>
          <a:lstStyle/>
          <a:p>
            <a:pPr>
              <a:defRPr sz="1400" b="1">
                <a:solidFill>
                  <a:srgbClr val="0EA5E9"/>
                </a:solidFill>
                <a:latin typeface="Calibri"/>
              </a:defRPr>
            </a:pPr>
            <a:r>
              <a:t>SLOs &amp; Error Budgets</a:t>
            </a:r>
          </a:p>
        </p:txBody>
      </p:sp>
      <p:sp>
        <p:nvSpPr>
          <p:cNvPr id="6" name="TextBox 5"/>
          <p:cNvSpPr txBox="1"/>
          <p:nvPr/>
        </p:nvSpPr>
        <p:spPr>
          <a:xfrm>
            <a:off x="9144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Availability SLO: </a:t>
            </a:r>
            <a:r>
              <a:rPr sz="1100">
                <a:solidFill>
                  <a:srgbClr val="94A3B8"/>
                </a:solidFill>
                <a:latin typeface="Calibri"/>
              </a:rPr>
              <a:t>&gt;= 99.99% (Four Nines) measured on a rolling 30-day window (4.32 min/month error budget).</a:t>
            </a:r>
          </a:p>
          <a:p>
            <a:pPr>
              <a:spcAft>
                <a:spcPts val="600"/>
              </a:spcAft>
            </a:pPr>
            <a:r>
              <a:rPr sz="1100" b="1">
                <a:solidFill>
                  <a:srgbClr val="F8FAFC"/>
                </a:solidFill>
                <a:latin typeface="Calibri"/>
              </a:rPr>
              <a:t>• Latency SLO (p95): </a:t>
            </a:r>
            <a:r>
              <a:rPr sz="1100">
                <a:solidFill>
                  <a:srgbClr val="94A3B8"/>
                </a:solidFill>
                <a:latin typeface="Calibri"/>
              </a:rPr>
              <a:t>&lt;= 150 ms end-to-end settlement latency.</a:t>
            </a:r>
          </a:p>
          <a:p>
            <a:pPr>
              <a:spcAft>
                <a:spcPts val="600"/>
              </a:spcAft>
            </a:pPr>
            <a:r>
              <a:rPr sz="1100" b="1">
                <a:solidFill>
                  <a:srgbClr val="F8FAFC"/>
                </a:solidFill>
                <a:latin typeface="Calibri"/>
              </a:rPr>
              <a:t>• Latency SLO (p99): </a:t>
            </a:r>
            <a:r>
              <a:rPr sz="1100">
                <a:solidFill>
                  <a:srgbClr val="94A3B8"/>
                </a:solidFill>
                <a:latin typeface="Calibri"/>
              </a:rPr>
              <a:t>&lt;= 500 ms worst-case latency including distributed locking and Kafka publish.</a:t>
            </a:r>
          </a:p>
          <a:p>
            <a:pPr>
              <a:spcAft>
                <a:spcPts val="600"/>
              </a:spcAft>
            </a:pPr>
            <a:r>
              <a:rPr sz="1100" b="1">
                <a:solidFill>
                  <a:srgbClr val="F8FAFC"/>
                </a:solidFill>
                <a:latin typeface="Calibri"/>
              </a:rPr>
              <a:t>• Ledger Invariance SLO: </a:t>
            </a:r>
            <a:r>
              <a:rPr sz="1100">
                <a:solidFill>
                  <a:srgbClr val="94A3B8"/>
                </a:solidFill>
                <a:latin typeface="Calibri"/>
              </a:rPr>
              <a:t>Zero mathematical drift (|Debit - Credit| == 0.00 IDR) with ZERO error tolerance.</a:t>
            </a:r>
          </a:p>
          <a:p>
            <a:pPr>
              <a:spcAft>
                <a:spcPts val="600"/>
              </a:spcAft>
            </a:pPr>
            <a:r>
              <a:rPr sz="1100" b="1">
                <a:solidFill>
                  <a:srgbClr val="F8FAFC"/>
                </a:solidFill>
                <a:latin typeface="Calibri"/>
              </a:rPr>
              <a:t>• Multi-Burn Alerting: </a:t>
            </a:r>
            <a:r>
              <a:rPr sz="1100">
                <a:solidFill>
                  <a:srgbClr val="94A3B8"/>
                </a:solidFill>
                <a:latin typeface="Calibri"/>
              </a:rPr>
              <a:t>1-hour burn rate &gt;= 14.4x triggers P1 pager alert; automated release freeze if budget drops &lt; 10%.</a:t>
            </a:r>
          </a:p>
        </p:txBody>
      </p:sp>
      <p:sp>
        <p:nvSpPr>
          <p:cNvPr id="7" name="Rounded Rectangle 6"/>
          <p:cNvSpPr/>
          <p:nvPr/>
        </p:nvSpPr>
        <p:spPr>
          <a:xfrm>
            <a:off x="43891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00200"/>
            <a:ext cx="3017520" cy="411480"/>
          </a:xfrm>
          <a:prstGeom prst="rect">
            <a:avLst/>
          </a:prstGeom>
          <a:noFill/>
        </p:spPr>
        <p:txBody>
          <a:bodyPr wrap="square">
            <a:spAutoFit/>
          </a:bodyPr>
          <a:lstStyle/>
          <a:p>
            <a:pPr>
              <a:defRPr sz="1400" b="1">
                <a:solidFill>
                  <a:srgbClr val="F59E0B"/>
                </a:solidFill>
                <a:latin typeface="Calibri"/>
              </a:defRPr>
            </a:pPr>
            <a:r>
              <a:t>Four Golden Signals</a:t>
            </a:r>
          </a:p>
        </p:txBody>
      </p:sp>
      <p:sp>
        <p:nvSpPr>
          <p:cNvPr id="9" name="TextBox 8"/>
          <p:cNvSpPr txBox="1"/>
          <p:nvPr/>
        </p:nvSpPr>
        <p:spPr>
          <a:xfrm>
            <a:off x="45720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Latency: </a:t>
            </a:r>
            <a:r>
              <a:rPr sz="1100">
                <a:solidFill>
                  <a:srgbClr val="94A3B8"/>
                </a:solidFill>
                <a:latin typeface="Calibri"/>
              </a:rPr>
              <a:t>Histogram percentiles (p50, p95, p99) tracked per endpoint and channel via Micrometer.</a:t>
            </a:r>
          </a:p>
          <a:p>
            <a:pPr>
              <a:spcAft>
                <a:spcPts val="600"/>
              </a:spcAft>
            </a:pPr>
            <a:r>
              <a:rPr sz="1100" b="1">
                <a:solidFill>
                  <a:srgbClr val="F8FAFC"/>
                </a:solidFill>
                <a:latin typeface="Calibri"/>
              </a:rPr>
              <a:t>• Traffic: </a:t>
            </a:r>
            <a:r>
              <a:rPr sz="1100">
                <a:solidFill>
                  <a:srgbClr val="94A3B8"/>
                </a:solidFill>
                <a:latin typeface="Calibri"/>
              </a:rPr>
              <a:t>Real-time RPS and throughput counters partitioned by currency and status.</a:t>
            </a:r>
          </a:p>
          <a:p>
            <a:pPr>
              <a:spcAft>
                <a:spcPts val="600"/>
              </a:spcAft>
            </a:pPr>
            <a:r>
              <a:rPr sz="1100" b="1">
                <a:solidFill>
                  <a:srgbClr val="F8FAFC"/>
                </a:solidFill>
                <a:latin typeface="Calibri"/>
              </a:rPr>
              <a:t>• Errors: </a:t>
            </a:r>
            <a:r>
              <a:rPr sz="1100">
                <a:solidFill>
                  <a:srgbClr val="94A3B8"/>
                </a:solidFill>
                <a:latin typeface="Calibri"/>
              </a:rPr>
              <a:t>Distinguishes 4xx business validations (which don't burn budget) from 5xx server faults.</a:t>
            </a:r>
          </a:p>
          <a:p>
            <a:pPr>
              <a:spcAft>
                <a:spcPts val="600"/>
              </a:spcAft>
            </a:pPr>
            <a:r>
              <a:rPr sz="1100" b="1">
                <a:solidFill>
                  <a:srgbClr val="F8FAFC"/>
                </a:solidFill>
                <a:latin typeface="Calibri"/>
              </a:rPr>
              <a:t>• Saturation: </a:t>
            </a:r>
            <a:r>
              <a:rPr sz="1100">
                <a:solidFill>
                  <a:srgbClr val="94A3B8"/>
                </a:solidFill>
                <a:latin typeface="Calibri"/>
              </a:rPr>
              <a:t>HikariCP Oracle pool pending threads, Kafka consumer group lag, and ZGC heap memory.</a:t>
            </a:r>
          </a:p>
          <a:p>
            <a:pPr>
              <a:spcAft>
                <a:spcPts val="600"/>
              </a:spcAft>
            </a:pPr>
            <a:r>
              <a:rPr sz="1100" b="1">
                <a:solidFill>
                  <a:srgbClr val="F8FAFC"/>
                </a:solidFill>
                <a:latin typeface="Calibri"/>
              </a:rPr>
              <a:t>• Live Endpoint: </a:t>
            </a:r>
            <a:r>
              <a:rPr sz="1100">
                <a:solidFill>
                  <a:srgbClr val="94A3B8"/>
                </a:solidFill>
                <a:latin typeface="Calibri"/>
              </a:rPr>
              <a:t>Exposed live at /actuator/prometheus for automated scraping.</a:t>
            </a:r>
          </a:p>
        </p:txBody>
      </p:sp>
      <p:sp>
        <p:nvSpPr>
          <p:cNvPr id="10" name="Rounded Rectangle 9"/>
          <p:cNvSpPr/>
          <p:nvPr/>
        </p:nvSpPr>
        <p:spPr>
          <a:xfrm>
            <a:off x="80467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411480"/>
          </a:xfrm>
          <a:prstGeom prst="rect">
            <a:avLst/>
          </a:prstGeom>
          <a:noFill/>
        </p:spPr>
        <p:txBody>
          <a:bodyPr wrap="square">
            <a:spAutoFit/>
          </a:bodyPr>
          <a:lstStyle/>
          <a:p>
            <a:pPr>
              <a:defRPr sz="1400" b="1">
                <a:solidFill>
                  <a:srgbClr val="10B981"/>
                </a:solidFill>
                <a:latin typeface="Calibri"/>
              </a:defRPr>
            </a:pPr>
            <a:r>
              <a:t>Alerting &amp; Autoscaling</a:t>
            </a:r>
          </a:p>
        </p:txBody>
      </p:sp>
      <p:sp>
        <p:nvSpPr>
          <p:cNvPr id="12" name="TextBox 11"/>
          <p:cNvSpPr txBox="1"/>
          <p:nvPr/>
        </p:nvSpPr>
        <p:spPr>
          <a:xfrm>
            <a:off x="82296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Prometheus Alert Rules: </a:t>
            </a:r>
            <a:r>
              <a:rPr sz="1100">
                <a:solidFill>
                  <a:srgbClr val="94A3B8"/>
                </a:solidFill>
                <a:latin typeface="Calibri"/>
              </a:rPr>
              <a:t>monitoring/prometheus-alerts.yaml defines production alerts for 5xx errors, latency, and pool starvation.</a:t>
            </a:r>
          </a:p>
          <a:p>
            <a:pPr>
              <a:spcAft>
                <a:spcPts val="600"/>
              </a:spcAft>
            </a:pPr>
            <a:r>
              <a:rPr sz="1100" b="1">
                <a:solidFill>
                  <a:srgbClr val="F8FAFC"/>
                </a:solidFill>
                <a:latin typeface="Calibri"/>
              </a:rPr>
              <a:t>• Oracle Pool Starvation: </a:t>
            </a:r>
            <a:r>
              <a:rPr sz="1100">
                <a:solidFill>
                  <a:srgbClr val="94A3B8"/>
                </a:solidFill>
                <a:latin typeface="Calibri"/>
              </a:rPr>
              <a:t>Alerts when hikaricp_connections_pending &gt; 0 for &gt; 30s.</a:t>
            </a:r>
          </a:p>
          <a:p>
            <a:pPr>
              <a:spcAft>
                <a:spcPts val="600"/>
              </a:spcAft>
            </a:pPr>
            <a:r>
              <a:rPr sz="1100" b="1">
                <a:solidFill>
                  <a:srgbClr val="F8FAFC"/>
                </a:solidFill>
                <a:latin typeface="Calibri"/>
              </a:rPr>
              <a:t>• Kafka Consumer Lag: </a:t>
            </a:r>
            <a:r>
              <a:rPr sz="1100">
                <a:solidFill>
                  <a:srgbClr val="94A3B8"/>
                </a:solidFill>
                <a:latin typeface="Calibri"/>
              </a:rPr>
              <a:t>Alerts when fraud consumer lag exceeds 500 messages.</a:t>
            </a:r>
          </a:p>
          <a:p>
            <a:pPr>
              <a:spcAft>
                <a:spcPts val="600"/>
              </a:spcAft>
            </a:pPr>
            <a:r>
              <a:rPr sz="1100" b="1">
                <a:solidFill>
                  <a:srgbClr val="F8FAFC"/>
                </a:solidFill>
                <a:latin typeface="Calibri"/>
              </a:rPr>
              <a:t>• Kubernetes HPA: </a:t>
            </a:r>
            <a:r>
              <a:rPr sz="1100">
                <a:solidFill>
                  <a:srgbClr val="94A3B8"/>
                </a:solidFill>
                <a:latin typeface="Calibri"/>
              </a:rPr>
              <a:t>k8s/hpa.yaml scales replicas from 1 to 5 based on 70% CPU and 80% Memory utilization.</a:t>
            </a:r>
          </a:p>
          <a:p>
            <a:pPr>
              <a:spcAft>
                <a:spcPts val="600"/>
              </a:spcAft>
            </a:pPr>
            <a:r>
              <a:rPr sz="1100" b="1">
                <a:solidFill>
                  <a:srgbClr val="F8FAFC"/>
                </a:solidFill>
                <a:latin typeface="Calibri"/>
              </a:rPr>
              <a:t>• Incident SOP Runbooks: </a:t>
            </a:r>
            <a:r>
              <a:rPr sz="1100">
                <a:solidFill>
                  <a:srgbClr val="94A3B8"/>
                </a:solidFill>
                <a:latin typeface="Calibri"/>
              </a:rPr>
              <a:t>Standard Operating Procedures (SOP-01 to SOP-03) documented for on-call SREs.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DEPLOYMENT &amp; RELEASE ENGINEERING</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Zero-Downtime Blue-Green Deployment &amp; Preview Domains</a:t>
            </a:r>
          </a:p>
        </p:txBody>
      </p:sp>
      <p:sp>
        <p:nvSpPr>
          <p:cNvPr id="4" name="Rounded Rectangle 3"/>
          <p:cNvSpPr/>
          <p:nvPr/>
        </p:nvSpPr>
        <p:spPr>
          <a:xfrm>
            <a:off x="7315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411480"/>
          </a:xfrm>
          <a:prstGeom prst="rect">
            <a:avLst/>
          </a:prstGeom>
          <a:noFill/>
        </p:spPr>
        <p:txBody>
          <a:bodyPr wrap="square">
            <a:spAutoFit/>
          </a:bodyPr>
          <a:lstStyle/>
          <a:p>
            <a:pPr>
              <a:defRPr sz="1400" b="1">
                <a:solidFill>
                  <a:srgbClr val="0EA5E9"/>
                </a:solidFill>
                <a:latin typeface="Calibri"/>
              </a:defRPr>
            </a:pPr>
            <a:r>
              <a:t>Branch Protection Gate</a:t>
            </a:r>
          </a:p>
        </p:txBody>
      </p:sp>
      <p:sp>
        <p:nvSpPr>
          <p:cNvPr id="6" name="TextBox 5"/>
          <p:cNvSpPr txBox="1"/>
          <p:nvPr/>
        </p:nvSpPr>
        <p:spPr>
          <a:xfrm>
            <a:off x="9144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Main Branch Lock: </a:t>
            </a:r>
            <a:r>
              <a:rPr sz="1100">
                <a:solidFill>
                  <a:srgbClr val="94A3B8"/>
                </a:solidFill>
                <a:latin typeface="Calibri"/>
              </a:rPr>
              <a:t>Direct pushes to 'main' are permanently blocked with enforce_admins: true.</a:t>
            </a:r>
          </a:p>
          <a:p>
            <a:pPr>
              <a:spcAft>
                <a:spcPts val="600"/>
              </a:spcAft>
            </a:pPr>
            <a:r>
              <a:rPr sz="1100" b="1">
                <a:solidFill>
                  <a:srgbClr val="F8FAFC"/>
                </a:solidFill>
                <a:latin typeface="Calibri"/>
              </a:rPr>
              <a:t>• Pull Request Mandatory: </a:t>
            </a:r>
            <a:r>
              <a:rPr sz="1100">
                <a:solidFill>
                  <a:srgbClr val="94A3B8"/>
                </a:solidFill>
                <a:latin typeface="Calibri"/>
              </a:rPr>
              <a:t>All code modifications must be reviewed and merged via PR.</a:t>
            </a:r>
          </a:p>
          <a:p>
            <a:pPr>
              <a:spcAft>
                <a:spcPts val="600"/>
              </a:spcAft>
            </a:pPr>
            <a:r>
              <a:rPr sz="1100" b="1">
                <a:solidFill>
                  <a:srgbClr val="F8FAFC"/>
                </a:solidFill>
                <a:latin typeface="Calibri"/>
              </a:rPr>
              <a:t>• 95% Coverage Gate: </a:t>
            </a:r>
            <a:r>
              <a:rPr sz="1100">
                <a:solidFill>
                  <a:srgbClr val="94A3B8"/>
                </a:solidFill>
                <a:latin typeface="Calibri"/>
              </a:rPr>
              <a:t>GitHub Actions check 'Build &amp; Verify 95% Coverage Barrier' must pass before merge button is unlocked.</a:t>
            </a:r>
          </a:p>
          <a:p>
            <a:pPr>
              <a:spcAft>
                <a:spcPts val="600"/>
              </a:spcAft>
            </a:pPr>
            <a:r>
              <a:rPr sz="1100" b="1">
                <a:solidFill>
                  <a:srgbClr val="F8FAFC"/>
                </a:solidFill>
                <a:latin typeface="Calibri"/>
              </a:rPr>
              <a:t>• Clean Git History: </a:t>
            </a:r>
            <a:r>
              <a:rPr sz="1100">
                <a:solidFill>
                  <a:srgbClr val="94A3B8"/>
                </a:solidFill>
                <a:latin typeface="Calibri"/>
              </a:rPr>
              <a:t>Strict conventional commits (feat, fix, docs, chore) with linear history.</a:t>
            </a:r>
          </a:p>
        </p:txBody>
      </p:sp>
      <p:sp>
        <p:nvSpPr>
          <p:cNvPr id="7" name="Rounded Rectangle 6"/>
          <p:cNvSpPr/>
          <p:nvPr/>
        </p:nvSpPr>
        <p:spPr>
          <a:xfrm>
            <a:off x="43891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00200"/>
            <a:ext cx="3017520" cy="411480"/>
          </a:xfrm>
          <a:prstGeom prst="rect">
            <a:avLst/>
          </a:prstGeom>
          <a:noFill/>
        </p:spPr>
        <p:txBody>
          <a:bodyPr wrap="square">
            <a:spAutoFit/>
          </a:bodyPr>
          <a:lstStyle/>
          <a:p>
            <a:pPr>
              <a:defRPr sz="1400" b="1">
                <a:solidFill>
                  <a:srgbClr val="F59E0B"/>
                </a:solidFill>
                <a:latin typeface="Calibri"/>
              </a:defRPr>
            </a:pPr>
            <a:r>
              <a:t>Feature Preview Domain</a:t>
            </a:r>
          </a:p>
        </p:txBody>
      </p:sp>
      <p:sp>
        <p:nvSpPr>
          <p:cNvPr id="9" name="TextBox 8"/>
          <p:cNvSpPr txBox="1"/>
          <p:nvPr/>
        </p:nvSpPr>
        <p:spPr>
          <a:xfrm>
            <a:off x="45720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Ephemeral Testing: </a:t>
            </a:r>
            <a:r>
              <a:rPr sz="1100">
                <a:solidFill>
                  <a:srgbClr val="94A3B8"/>
                </a:solidFill>
                <a:latin typeface="Calibri"/>
              </a:rPr>
              <a:t>Pushing to any feature branch automatically builds a preview container.</a:t>
            </a:r>
          </a:p>
          <a:p>
            <a:pPr>
              <a:spcAft>
                <a:spcPts val="600"/>
              </a:spcAft>
            </a:pPr>
            <a:r>
              <a:rPr sz="1100" b="1">
                <a:solidFill>
                  <a:srgbClr val="F8FAFC"/>
                </a:solidFill>
                <a:latin typeface="Calibri"/>
              </a:rPr>
              <a:t>• Dedicated Ingress: </a:t>
            </a:r>
            <a:r>
              <a:rPr sz="1100">
                <a:solidFill>
                  <a:srgbClr val="94A3B8"/>
                </a:solidFill>
                <a:latin typeface="Calibri"/>
              </a:rPr>
              <a:t>Deploys to indibank-core-preview, accessible at https://test.indibank.aldianapps.com.</a:t>
            </a:r>
          </a:p>
          <a:p>
            <a:pPr>
              <a:spcAft>
                <a:spcPts val="600"/>
              </a:spcAft>
            </a:pPr>
            <a:r>
              <a:rPr sz="1100" b="1">
                <a:solidFill>
                  <a:srgbClr val="F8FAFC"/>
                </a:solidFill>
                <a:latin typeface="Calibri"/>
              </a:rPr>
              <a:t>• Manual &amp; Automated QA: </a:t>
            </a:r>
            <a:r>
              <a:rPr sz="1100">
                <a:solidFill>
                  <a:srgbClr val="94A3B8"/>
                </a:solidFill>
                <a:latin typeface="Calibri"/>
              </a:rPr>
              <a:t>Allows stakeholders and engineers to test new endpoints in a real environment before merge.</a:t>
            </a:r>
          </a:p>
          <a:p>
            <a:pPr>
              <a:spcAft>
                <a:spcPts val="600"/>
              </a:spcAft>
            </a:pPr>
            <a:r>
              <a:rPr sz="1100" b="1">
                <a:solidFill>
                  <a:srgbClr val="F8FAFC"/>
                </a:solidFill>
                <a:latin typeface="Calibri"/>
              </a:rPr>
              <a:t>• Zero Production Impact: </a:t>
            </a:r>
            <a:r>
              <a:rPr sz="1100">
                <a:solidFill>
                  <a:srgbClr val="94A3B8"/>
                </a:solidFill>
                <a:latin typeface="Calibri"/>
              </a:rPr>
              <a:t>Isolated pods prevent preview testing from impacting live banking traffic.</a:t>
            </a:r>
          </a:p>
        </p:txBody>
      </p:sp>
      <p:sp>
        <p:nvSpPr>
          <p:cNvPr id="10" name="Rounded Rectangle 9"/>
          <p:cNvSpPr/>
          <p:nvPr/>
        </p:nvSpPr>
        <p:spPr>
          <a:xfrm>
            <a:off x="80467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411480"/>
          </a:xfrm>
          <a:prstGeom prst="rect">
            <a:avLst/>
          </a:prstGeom>
          <a:noFill/>
        </p:spPr>
        <p:txBody>
          <a:bodyPr wrap="square">
            <a:spAutoFit/>
          </a:bodyPr>
          <a:lstStyle/>
          <a:p>
            <a:pPr>
              <a:defRPr sz="1400" b="1">
                <a:solidFill>
                  <a:srgbClr val="10B981"/>
                </a:solidFill>
                <a:latin typeface="Calibri"/>
              </a:defRPr>
            </a:pPr>
            <a:r>
              <a:t>Blue-Green Production Deploy</a:t>
            </a:r>
          </a:p>
        </p:txBody>
      </p:sp>
      <p:sp>
        <p:nvSpPr>
          <p:cNvPr id="12" name="TextBox 11"/>
          <p:cNvSpPr txBox="1"/>
          <p:nvPr/>
        </p:nvSpPr>
        <p:spPr>
          <a:xfrm>
            <a:off x="82296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Dual Deployments: </a:t>
            </a:r>
            <a:r>
              <a:rPr sz="1100">
                <a:solidFill>
                  <a:srgbClr val="94A3B8"/>
                </a:solidFill>
                <a:latin typeface="Calibri"/>
              </a:rPr>
              <a:t>Two identical production deployments: indibank-core-blue and indibank-core-green.</a:t>
            </a:r>
          </a:p>
          <a:p>
            <a:pPr>
              <a:spcAft>
                <a:spcPts val="600"/>
              </a:spcAft>
            </a:pPr>
            <a:r>
              <a:rPr sz="1100" b="1">
                <a:solidFill>
                  <a:srgbClr val="F8FAFC"/>
                </a:solidFill>
                <a:latin typeface="Calibri"/>
              </a:rPr>
              <a:t>• Atomic Readiness: </a:t>
            </a:r>
            <a:r>
              <a:rPr sz="1100">
                <a:solidFill>
                  <a:srgbClr val="94A3B8"/>
                </a:solidFill>
                <a:latin typeface="Calibri"/>
              </a:rPr>
              <a:t>Standby slot scales to 1 replica; CI/CD waits for rollout status before traffic switch.</a:t>
            </a:r>
          </a:p>
          <a:p>
            <a:pPr>
              <a:spcAft>
                <a:spcPts val="600"/>
              </a:spcAft>
            </a:pPr>
            <a:r>
              <a:rPr sz="1100" b="1">
                <a:solidFill>
                  <a:srgbClr val="F8FAFC"/>
                </a:solidFill>
                <a:latin typeface="Calibri"/>
              </a:rPr>
              <a:t>• Atomic Traffic Switch: </a:t>
            </a:r>
            <a:r>
              <a:rPr sz="1100">
                <a:solidFill>
                  <a:srgbClr val="94A3B8"/>
                </a:solidFill>
                <a:latin typeface="Calibri"/>
              </a:rPr>
              <a:t>Single kubectl patch on the Service selector instantly points live traffic to new slot.</a:t>
            </a:r>
          </a:p>
          <a:p>
            <a:pPr>
              <a:spcAft>
                <a:spcPts val="600"/>
              </a:spcAft>
            </a:pPr>
            <a:r>
              <a:rPr sz="1100" b="1">
                <a:solidFill>
                  <a:srgbClr val="F8FAFC"/>
                </a:solidFill>
                <a:latin typeface="Calibri"/>
              </a:rPr>
              <a:t>• Sub-Second Rollback: </a:t>
            </a:r>
            <a:r>
              <a:rPr sz="1100">
                <a:solidFill>
                  <a:srgbClr val="94A3B8"/>
                </a:solidFill>
                <a:latin typeface="Calibri"/>
              </a:rPr>
              <a:t>If an anomaly occurs post-cutover, rolling back takes &lt; 1s with a one-line service patch.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MULTI-PLATFORM CLOUD ARCHITECTURE</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Portability Across GCP, AWS, Azure, OpenShift, &amp; Local</a:t>
            </a:r>
          </a:p>
        </p:txBody>
      </p:sp>
      <p:sp>
        <p:nvSpPr>
          <p:cNvPr id="4" name="Rounded Rectangle 3"/>
          <p:cNvSpPr/>
          <p:nvPr/>
        </p:nvSpPr>
        <p:spPr>
          <a:xfrm>
            <a:off x="731520" y="1463040"/>
            <a:ext cx="52120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411480"/>
          </a:xfrm>
          <a:prstGeom prst="rect">
            <a:avLst/>
          </a:prstGeom>
          <a:noFill/>
        </p:spPr>
        <p:txBody>
          <a:bodyPr wrap="square">
            <a:spAutoFit/>
          </a:bodyPr>
          <a:lstStyle/>
          <a:p>
            <a:pPr>
              <a:defRPr sz="1400" b="1">
                <a:solidFill>
                  <a:srgbClr val="0EA5E9"/>
                </a:solidFill>
                <a:latin typeface="Calibri"/>
              </a:defRPr>
            </a:pPr>
            <a:r>
              <a:t>Cloud &amp; On-Premise Portability Matrix</a:t>
            </a:r>
          </a:p>
        </p:txBody>
      </p:sp>
      <p:sp>
        <p:nvSpPr>
          <p:cNvPr id="6" name="TextBox 5"/>
          <p:cNvSpPr txBox="1"/>
          <p:nvPr/>
        </p:nvSpPr>
        <p:spPr>
          <a:xfrm>
            <a:off x="914400" y="2011680"/>
            <a:ext cx="4846320" cy="4069080"/>
          </a:xfrm>
          <a:prstGeom prst="rect">
            <a:avLst/>
          </a:prstGeom>
          <a:noFill/>
        </p:spPr>
        <p:txBody>
          <a:bodyPr wrap="square">
            <a:spAutoFit/>
          </a:bodyPr>
          <a:lstStyle/>
          <a:p>
            <a:pPr>
              <a:spcAft>
                <a:spcPts val="600"/>
              </a:spcAft>
            </a:pPr>
            <a:r>
              <a:rPr sz="1100" b="1">
                <a:solidFill>
                  <a:srgbClr val="F8FAFC"/>
                </a:solidFill>
                <a:latin typeface="Calibri"/>
              </a:rPr>
              <a:t>• Google Cloud (GKE): </a:t>
            </a:r>
            <a:r>
              <a:rPr sz="1100">
                <a:solidFill>
                  <a:srgbClr val="94A3B8"/>
                </a:solidFill>
                <a:latin typeface="Calibri"/>
              </a:rPr>
              <a:t>Live production target in Jakarta (asia-southeast2). Provisioned via Terraform IaC.</a:t>
            </a:r>
          </a:p>
          <a:p>
            <a:pPr>
              <a:spcAft>
                <a:spcPts val="600"/>
              </a:spcAft>
            </a:pPr>
            <a:r>
              <a:rPr sz="1100" b="1">
                <a:solidFill>
                  <a:srgbClr val="F8FAFC"/>
                </a:solidFill>
                <a:latin typeface="Calibri"/>
              </a:rPr>
              <a:t>• Amazon Web Services (EKS): </a:t>
            </a:r>
            <a:r>
              <a:rPr sz="1100">
                <a:solidFill>
                  <a:srgbClr val="94A3B8"/>
                </a:solidFill>
                <a:latin typeface="Calibri"/>
              </a:rPr>
              <a:t>Deployable via Helm chart using AWS Load Balancer Controller and RDS Oracle / self-hosted.</a:t>
            </a:r>
          </a:p>
          <a:p>
            <a:pPr>
              <a:spcAft>
                <a:spcPts val="600"/>
              </a:spcAft>
            </a:pPr>
            <a:r>
              <a:rPr sz="1100" b="1">
                <a:solidFill>
                  <a:srgbClr val="F8FAFC"/>
                </a:solidFill>
                <a:latin typeface="Calibri"/>
              </a:rPr>
              <a:t>• Microsoft Azure (AKS): </a:t>
            </a:r>
            <a:r>
              <a:rPr sz="1100">
                <a:solidFill>
                  <a:srgbClr val="94A3B8"/>
                </a:solidFill>
                <a:latin typeface="Calibri"/>
              </a:rPr>
              <a:t>Deployable on AKS with Azure Application Gateway Ingress and Azure Files / Managed Disks.</a:t>
            </a:r>
          </a:p>
          <a:p>
            <a:pPr>
              <a:spcAft>
                <a:spcPts val="600"/>
              </a:spcAft>
            </a:pPr>
            <a:r>
              <a:rPr sz="1100" b="1">
                <a:solidFill>
                  <a:srgbClr val="F8FAFC"/>
                </a:solidFill>
                <a:latin typeface="Calibri"/>
              </a:rPr>
              <a:t>• Red Hat OpenShift: </a:t>
            </a:r>
            <a:r>
              <a:rPr sz="1100">
                <a:solidFill>
                  <a:srgbClr val="94A3B8"/>
                </a:solidFill>
                <a:latin typeface="Calibri"/>
              </a:rPr>
              <a:t>Enterprise on-premise banking support with OpenShift SCC and declarative Routes.</a:t>
            </a:r>
          </a:p>
          <a:p>
            <a:pPr>
              <a:spcAft>
                <a:spcPts val="600"/>
              </a:spcAft>
            </a:pPr>
            <a:r>
              <a:rPr sz="1100" b="1">
                <a:solidFill>
                  <a:srgbClr val="F8FAFC"/>
                </a:solidFill>
                <a:latin typeface="Calibri"/>
              </a:rPr>
              <a:t>• Local Minikube / Kind: </a:t>
            </a:r>
            <a:r>
              <a:rPr sz="1100">
                <a:solidFill>
                  <a:srgbClr val="94A3B8"/>
                </a:solidFill>
                <a:latin typeface="Calibri"/>
              </a:rPr>
              <a:t>Complete local offline developer environment configured via helm/indibank/values-local.yaml.</a:t>
            </a:r>
          </a:p>
          <a:p>
            <a:pPr>
              <a:spcAft>
                <a:spcPts val="600"/>
              </a:spcAft>
            </a:pPr>
            <a:r>
              <a:rPr sz="1100" b="1">
                <a:solidFill>
                  <a:srgbClr val="F8FAFC"/>
                </a:solidFill>
                <a:latin typeface="Calibri"/>
              </a:rPr>
              <a:t>• Deployment Guide: </a:t>
            </a:r>
            <a:r>
              <a:rPr sz="1100">
                <a:solidFill>
                  <a:srgbClr val="94A3B8"/>
                </a:solidFill>
                <a:latin typeface="Calibri"/>
              </a:rPr>
              <a:t>Fully documented in docs/deployment/MULTI_PLATFORM.md with step-by-step commands.</a:t>
            </a:r>
          </a:p>
        </p:txBody>
      </p:sp>
      <p:sp>
        <p:nvSpPr>
          <p:cNvPr id="7" name="Rounded Rectangle 6"/>
          <p:cNvSpPr/>
          <p:nvPr/>
        </p:nvSpPr>
        <p:spPr>
          <a:xfrm>
            <a:off x="6217920" y="1463040"/>
            <a:ext cx="52120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46320" cy="411480"/>
          </a:xfrm>
          <a:prstGeom prst="rect">
            <a:avLst/>
          </a:prstGeom>
          <a:noFill/>
        </p:spPr>
        <p:txBody>
          <a:bodyPr wrap="square">
            <a:spAutoFit/>
          </a:bodyPr>
          <a:lstStyle/>
          <a:p>
            <a:pPr>
              <a:defRPr sz="1400" b="1">
                <a:solidFill>
                  <a:srgbClr val="10B981"/>
                </a:solidFill>
                <a:latin typeface="Calibri"/>
              </a:defRPr>
            </a:pPr>
            <a:r>
              <a:t>Production Helm Chart &amp; Container Hardening</a:t>
            </a:r>
          </a:p>
        </p:txBody>
      </p:sp>
      <p:sp>
        <p:nvSpPr>
          <p:cNvPr id="9" name="TextBox 8"/>
          <p:cNvSpPr txBox="1"/>
          <p:nvPr/>
        </p:nvSpPr>
        <p:spPr>
          <a:xfrm>
            <a:off x="6400800" y="2011680"/>
            <a:ext cx="4846320" cy="4069080"/>
          </a:xfrm>
          <a:prstGeom prst="rect">
            <a:avLst/>
          </a:prstGeom>
          <a:noFill/>
        </p:spPr>
        <p:txBody>
          <a:bodyPr wrap="square">
            <a:spAutoFit/>
          </a:bodyPr>
          <a:lstStyle/>
          <a:p>
            <a:pPr>
              <a:spcAft>
                <a:spcPts val="600"/>
              </a:spcAft>
            </a:pPr>
            <a:r>
              <a:rPr sz="1100" b="1">
                <a:solidFill>
                  <a:srgbClr val="F8FAFC"/>
                </a:solidFill>
                <a:latin typeface="Calibri"/>
              </a:rPr>
              <a:t>• Enterprise Helm Chart: </a:t>
            </a:r>
            <a:r>
              <a:rPr sz="1100">
                <a:solidFill>
                  <a:srgbClr val="94A3B8"/>
                </a:solidFill>
                <a:latin typeface="Calibri"/>
              </a:rPr>
              <a:t>helm/indibank/ provides unified parameterization across environments (dev, preview, prod).</a:t>
            </a:r>
          </a:p>
          <a:p>
            <a:pPr>
              <a:spcAft>
                <a:spcPts val="600"/>
              </a:spcAft>
            </a:pPr>
            <a:r>
              <a:rPr sz="1100" b="1">
                <a:solidFill>
                  <a:srgbClr val="F8FAFC"/>
                </a:solidFill>
                <a:latin typeface="Calibri"/>
              </a:rPr>
              <a:t>• Container Security: </a:t>
            </a:r>
            <a:r>
              <a:rPr sz="1100">
                <a:solidFill>
                  <a:srgbClr val="94A3B8"/>
                </a:solidFill>
                <a:latin typeface="Calibri"/>
              </a:rPr>
              <a:t>Runs as unprivileged non-root user (UID 10001) in distroless/alpine lightweight base.</a:t>
            </a:r>
          </a:p>
          <a:p>
            <a:pPr>
              <a:spcAft>
                <a:spcPts val="600"/>
              </a:spcAft>
            </a:pPr>
            <a:r>
              <a:rPr sz="1100" b="1">
                <a:solidFill>
                  <a:srgbClr val="F8FAFC"/>
                </a:solidFill>
                <a:latin typeface="Calibri"/>
              </a:rPr>
              <a:t>• Resource Governance: </a:t>
            </a:r>
            <a:r>
              <a:rPr sz="1100">
                <a:solidFill>
                  <a:srgbClr val="94A3B8"/>
                </a:solidFill>
                <a:latin typeface="Calibri"/>
              </a:rPr>
              <a:t>Rigorous CPU and Memory requests and limits preventing noisy neighbor resource starvation.</a:t>
            </a:r>
          </a:p>
          <a:p>
            <a:pPr>
              <a:spcAft>
                <a:spcPts val="600"/>
              </a:spcAft>
            </a:pPr>
            <a:r>
              <a:rPr sz="1100" b="1">
                <a:solidFill>
                  <a:srgbClr val="F8FAFC"/>
                </a:solidFill>
                <a:latin typeface="Calibri"/>
              </a:rPr>
              <a:t>• ConfigMaps &amp; Secrets: </a:t>
            </a:r>
            <a:r>
              <a:rPr sz="1100">
                <a:solidFill>
                  <a:srgbClr val="94A3B8"/>
                </a:solidFill>
                <a:latin typeface="Calibri"/>
              </a:rPr>
              <a:t>Externalized configuration separating environment settings from application binaries.</a:t>
            </a:r>
          </a:p>
          <a:p>
            <a:pPr>
              <a:spcAft>
                <a:spcPts val="600"/>
              </a:spcAft>
            </a:pPr>
            <a:r>
              <a:rPr sz="1100" b="1">
                <a:solidFill>
                  <a:srgbClr val="F8FAFC"/>
                </a:solidFill>
                <a:latin typeface="Calibri"/>
              </a:rPr>
              <a:t>• Readiness &amp; Liveness: </a:t>
            </a:r>
            <a:r>
              <a:rPr sz="1100">
                <a:solidFill>
                  <a:srgbClr val="94A3B8"/>
                </a:solidFill>
                <a:latin typeface="Calibri"/>
              </a:rPr>
              <a:t>Native HTTP health check probes at /actuator/health for automated cluster healing.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LIVE DEMONSTRATION &amp; SUMMARY</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Live Production Verification &amp; Executive Summary</a:t>
            </a:r>
          </a:p>
        </p:txBody>
      </p:sp>
      <p:sp>
        <p:nvSpPr>
          <p:cNvPr id="4" name="Rounded Rectangle 3"/>
          <p:cNvSpPr/>
          <p:nvPr/>
        </p:nvSpPr>
        <p:spPr>
          <a:xfrm>
            <a:off x="7315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411480"/>
          </a:xfrm>
          <a:prstGeom prst="rect">
            <a:avLst/>
          </a:prstGeom>
          <a:noFill/>
        </p:spPr>
        <p:txBody>
          <a:bodyPr wrap="square">
            <a:spAutoFit/>
          </a:bodyPr>
          <a:lstStyle/>
          <a:p>
            <a:pPr>
              <a:defRPr sz="1400" b="1">
                <a:solidFill>
                  <a:srgbClr val="0EA5E9"/>
                </a:solidFill>
                <a:latin typeface="Calibri"/>
              </a:defRPr>
            </a:pPr>
            <a:r>
              <a:t>Live Production Endpoints</a:t>
            </a:r>
          </a:p>
        </p:txBody>
      </p:sp>
      <p:sp>
        <p:nvSpPr>
          <p:cNvPr id="6" name="TextBox 5"/>
          <p:cNvSpPr txBox="1"/>
          <p:nvPr/>
        </p:nvSpPr>
        <p:spPr>
          <a:xfrm>
            <a:off x="9144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Banking Dashboard: </a:t>
            </a:r>
            <a:r>
              <a:rPr sz="1100">
                <a:solidFill>
                  <a:srgbClr val="94A3B8"/>
                </a:solidFill>
                <a:latin typeface="Calibri"/>
              </a:rPr>
              <a:t>https://indibank.aldianapps.com (Live interactive transfers and balance inquiries).</a:t>
            </a:r>
          </a:p>
          <a:p>
            <a:pPr>
              <a:spcAft>
                <a:spcPts val="600"/>
              </a:spcAft>
            </a:pPr>
            <a:r>
              <a:rPr sz="1100" b="1">
                <a:solidFill>
                  <a:srgbClr val="F8FAFC"/>
                </a:solidFill>
                <a:latin typeface="Calibri"/>
              </a:rPr>
              <a:t>• Preview Test Domain: </a:t>
            </a:r>
            <a:r>
              <a:rPr sz="1100">
                <a:solidFill>
                  <a:srgbClr val="94A3B8"/>
                </a:solidFill>
                <a:latin typeface="Calibri"/>
              </a:rPr>
              <a:t>https://test.indibank.aldianapps.com (Feature branch staging environment).</a:t>
            </a:r>
          </a:p>
          <a:p>
            <a:pPr>
              <a:spcAft>
                <a:spcPts val="600"/>
              </a:spcAft>
            </a:pPr>
            <a:r>
              <a:rPr sz="1100" b="1">
                <a:solidFill>
                  <a:srgbClr val="F8FAFC"/>
                </a:solidFill>
                <a:latin typeface="Calibri"/>
              </a:rPr>
              <a:t>• Swagger / OpenAPI UI: </a:t>
            </a:r>
            <a:r>
              <a:rPr sz="1100">
                <a:solidFill>
                  <a:srgbClr val="94A3B8"/>
                </a:solidFill>
                <a:latin typeface="Calibri"/>
              </a:rPr>
              <a:t>https://indibank.aldianapps.com/swagger-ui.html (Interactive contract explorer).</a:t>
            </a:r>
          </a:p>
          <a:p>
            <a:pPr>
              <a:spcAft>
                <a:spcPts val="600"/>
              </a:spcAft>
            </a:pPr>
            <a:r>
              <a:rPr sz="1100" b="1">
                <a:solidFill>
                  <a:srgbClr val="F8FAFC"/>
                </a:solidFill>
                <a:latin typeface="Calibri"/>
              </a:rPr>
              <a:t>• Prometheus Telemetry: </a:t>
            </a:r>
            <a:r>
              <a:rPr sz="1100">
                <a:solidFill>
                  <a:srgbClr val="94A3B8"/>
                </a:solidFill>
                <a:latin typeface="Calibri"/>
              </a:rPr>
              <a:t>https://indibank.aldianapps.com/actuator/prometheus (Real-time operational metrics).</a:t>
            </a:r>
          </a:p>
          <a:p>
            <a:pPr>
              <a:spcAft>
                <a:spcPts val="600"/>
              </a:spcAft>
            </a:pPr>
            <a:r>
              <a:rPr sz="1100" b="1">
                <a:solidFill>
                  <a:srgbClr val="F8FAFC"/>
                </a:solidFill>
                <a:latin typeface="Calibri"/>
              </a:rPr>
              <a:t>• GitHub Repository: </a:t>
            </a:r>
            <a:r>
              <a:rPr sz="1100">
                <a:solidFill>
                  <a:srgbClr val="94A3B8"/>
                </a:solidFill>
                <a:latin typeface="Calibri"/>
              </a:rPr>
              <a:t>Private repository with branch protection and complete CI/CD automation.</a:t>
            </a:r>
          </a:p>
        </p:txBody>
      </p:sp>
      <p:sp>
        <p:nvSpPr>
          <p:cNvPr id="7" name="Rounded Rectangle 6"/>
          <p:cNvSpPr/>
          <p:nvPr/>
        </p:nvSpPr>
        <p:spPr>
          <a:xfrm>
            <a:off x="43891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00200"/>
            <a:ext cx="3017520" cy="411480"/>
          </a:xfrm>
          <a:prstGeom prst="rect">
            <a:avLst/>
          </a:prstGeom>
          <a:noFill/>
        </p:spPr>
        <p:txBody>
          <a:bodyPr wrap="square">
            <a:spAutoFit/>
          </a:bodyPr>
          <a:lstStyle/>
          <a:p>
            <a:pPr>
              <a:defRPr sz="1400" b="1">
                <a:solidFill>
                  <a:srgbClr val="10B981"/>
                </a:solidFill>
                <a:latin typeface="Calibri"/>
              </a:defRPr>
            </a:pPr>
            <a:r>
              <a:t>Verification Results (7/7)</a:t>
            </a:r>
          </a:p>
        </p:txBody>
      </p:sp>
      <p:sp>
        <p:nvSpPr>
          <p:cNvPr id="9" name="TextBox 8"/>
          <p:cNvSpPr txBox="1"/>
          <p:nvPr/>
        </p:nvSpPr>
        <p:spPr>
          <a:xfrm>
            <a:off x="45720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Scenario 1: Accounts Query: </a:t>
            </a:r>
            <a:r>
              <a:rPr sz="1100">
                <a:solidFill>
                  <a:srgbClr val="94A3B8"/>
                </a:solidFill>
                <a:latin typeface="Calibri"/>
              </a:rPr>
              <a:t>PASSED - Active accounts fetched from live Oracle DB.</a:t>
            </a:r>
          </a:p>
          <a:p>
            <a:pPr>
              <a:spcAft>
                <a:spcPts val="600"/>
              </a:spcAft>
            </a:pPr>
            <a:r>
              <a:rPr sz="1100" b="1">
                <a:solidFill>
                  <a:srgbClr val="F8FAFC"/>
                </a:solidFill>
                <a:latin typeface="Calibri"/>
              </a:rPr>
              <a:t>• Scenario 2: Interbank Transfer: </a:t>
            </a:r>
            <a:r>
              <a:rPr sz="1100">
                <a:solidFill>
                  <a:srgbClr val="94A3B8"/>
                </a:solidFill>
                <a:latin typeface="Calibri"/>
              </a:rPr>
              <a:t>PASSED - Real-time settlement with unique transaction reference.</a:t>
            </a:r>
          </a:p>
          <a:p>
            <a:pPr>
              <a:spcAft>
                <a:spcPts val="600"/>
              </a:spcAft>
            </a:pPr>
            <a:r>
              <a:rPr sz="1100" b="1">
                <a:solidFill>
                  <a:srgbClr val="F8FAFC"/>
                </a:solidFill>
                <a:latin typeface="Calibri"/>
              </a:rPr>
              <a:t>• Scenario 3: Idempotency Replay: </a:t>
            </a:r>
            <a:r>
              <a:rPr sz="1100">
                <a:solidFill>
                  <a:srgbClr val="94A3B8"/>
                </a:solidFill>
                <a:latin typeface="Calibri"/>
              </a:rPr>
              <a:t>PASSED - Exact cached response returned without duplicate deduction.</a:t>
            </a:r>
          </a:p>
          <a:p>
            <a:pPr>
              <a:spcAft>
                <a:spcPts val="600"/>
              </a:spcAft>
            </a:pPr>
            <a:r>
              <a:rPr sz="1100" b="1">
                <a:solidFill>
                  <a:srgbClr val="F8FAFC"/>
                </a:solidFill>
                <a:latin typeface="Calibri"/>
              </a:rPr>
              <a:t>• Scenario 4: High-Value AML: </a:t>
            </a:r>
            <a:r>
              <a:rPr sz="1100">
                <a:solidFill>
                  <a:srgbClr val="94A3B8"/>
                </a:solidFill>
                <a:latin typeface="Calibri"/>
              </a:rPr>
              <a:t>PASSED - Rp 150M transfer triggered Kafka fraud alert.</a:t>
            </a:r>
          </a:p>
          <a:p>
            <a:pPr>
              <a:spcAft>
                <a:spcPts val="600"/>
              </a:spcAft>
            </a:pPr>
            <a:r>
              <a:rPr sz="1100" b="1">
                <a:solidFill>
                  <a:srgbClr val="F8FAFC"/>
                </a:solidFill>
                <a:latin typeface="Calibri"/>
              </a:rPr>
              <a:t>• Scenario 5: Stream Ticker: </a:t>
            </a:r>
            <a:r>
              <a:rPr sz="1100">
                <a:solidFill>
                  <a:srgbClr val="94A3B8"/>
                </a:solidFill>
                <a:latin typeface="Calibri"/>
              </a:rPr>
              <a:t>PASSED - Kafka topics verified via recent events API.</a:t>
            </a:r>
          </a:p>
          <a:p>
            <a:pPr>
              <a:spcAft>
                <a:spcPts val="600"/>
              </a:spcAft>
            </a:pPr>
            <a:r>
              <a:rPr sz="1100" b="1">
                <a:solidFill>
                  <a:srgbClr val="F8FAFC"/>
                </a:solidFill>
                <a:latin typeface="Calibri"/>
              </a:rPr>
              <a:t>• Scenario 6: Double-Entry Audit: </a:t>
            </a:r>
            <a:r>
              <a:rPr sz="1100">
                <a:solidFill>
                  <a:srgbClr val="94A3B8"/>
                </a:solidFill>
                <a:latin typeface="Calibri"/>
              </a:rPr>
              <a:t>PASSED - Equal DEBIT and CREDIT journal lines verified.</a:t>
            </a:r>
          </a:p>
          <a:p>
            <a:pPr>
              <a:spcAft>
                <a:spcPts val="600"/>
              </a:spcAft>
            </a:pPr>
            <a:r>
              <a:rPr sz="1100" b="1">
                <a:solidFill>
                  <a:srgbClr val="F8FAFC"/>
                </a:solidFill>
                <a:latin typeface="Calibri"/>
              </a:rPr>
              <a:t>• Scenario 7: Balance Protection: </a:t>
            </a:r>
            <a:r>
              <a:rPr sz="1100">
                <a:solidFill>
                  <a:srgbClr val="94A3B8"/>
                </a:solidFill>
                <a:latin typeface="Calibri"/>
              </a:rPr>
              <a:t>PASSED - Insufficient balance rejected with RFC 7807 error.</a:t>
            </a:r>
          </a:p>
        </p:txBody>
      </p:sp>
      <p:sp>
        <p:nvSpPr>
          <p:cNvPr id="10" name="Rounded Rectangle 9"/>
          <p:cNvSpPr/>
          <p:nvPr/>
        </p:nvSpPr>
        <p:spPr>
          <a:xfrm>
            <a:off x="80467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411480"/>
          </a:xfrm>
          <a:prstGeom prst="rect">
            <a:avLst/>
          </a:prstGeom>
          <a:noFill/>
        </p:spPr>
        <p:txBody>
          <a:bodyPr wrap="square">
            <a:spAutoFit/>
          </a:bodyPr>
          <a:lstStyle/>
          <a:p>
            <a:pPr>
              <a:defRPr sz="1400" b="1">
                <a:solidFill>
                  <a:srgbClr val="F59E0B"/>
                </a:solidFill>
                <a:latin typeface="Calibri"/>
              </a:defRPr>
            </a:pPr>
            <a:r>
              <a:t>Executive Summary</a:t>
            </a:r>
          </a:p>
        </p:txBody>
      </p:sp>
      <p:sp>
        <p:nvSpPr>
          <p:cNvPr id="12" name="TextBox 11"/>
          <p:cNvSpPr txBox="1"/>
          <p:nvPr/>
        </p:nvSpPr>
        <p:spPr>
          <a:xfrm>
            <a:off x="82296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Financial Consistency: </a:t>
            </a:r>
            <a:r>
              <a:rPr sz="1100">
                <a:solidFill>
                  <a:srgbClr val="94A3B8"/>
                </a:solidFill>
                <a:latin typeface="Calibri"/>
              </a:rPr>
              <a:t>Zero-Loss ledger invariance with strict double-entry bookkeeping and non-negative constraints.</a:t>
            </a:r>
          </a:p>
          <a:p>
            <a:pPr>
              <a:spcAft>
                <a:spcPts val="600"/>
              </a:spcAft>
            </a:pPr>
            <a:r>
              <a:rPr sz="1100" b="1">
                <a:solidFill>
                  <a:srgbClr val="F8FAFC"/>
                </a:solidFill>
                <a:latin typeface="Calibri"/>
              </a:rPr>
              <a:t>• Defensive Concurrency: </a:t>
            </a:r>
            <a:r>
              <a:rPr sz="1100">
                <a:solidFill>
                  <a:srgbClr val="94A3B8"/>
                </a:solidFill>
                <a:latin typeface="Calibri"/>
              </a:rPr>
              <a:t>Idempotency state machine and distributed locking eliminating double-spending.</a:t>
            </a:r>
          </a:p>
          <a:p>
            <a:pPr>
              <a:spcAft>
                <a:spcPts val="600"/>
              </a:spcAft>
            </a:pPr>
            <a:r>
              <a:rPr sz="1100" b="1">
                <a:solidFill>
                  <a:srgbClr val="F8FAFC"/>
                </a:solidFill>
                <a:latin typeface="Calibri"/>
              </a:rPr>
              <a:t>• High-Throughput Streaming: </a:t>
            </a:r>
            <a:r>
              <a:rPr sz="1100">
                <a:solidFill>
                  <a:srgbClr val="94A3B8"/>
                </a:solidFill>
                <a:latin typeface="Calibri"/>
              </a:rPr>
              <a:t>Kafka KRaft async decoupling and real-time AML fraud detection.</a:t>
            </a:r>
          </a:p>
          <a:p>
            <a:pPr>
              <a:spcAft>
                <a:spcPts val="600"/>
              </a:spcAft>
            </a:pPr>
            <a:r>
              <a:rPr sz="1100" b="1">
                <a:solidFill>
                  <a:srgbClr val="F8FAFC"/>
                </a:solidFill>
                <a:latin typeface="Calibri"/>
              </a:rPr>
              <a:t>• Zero-Downtime Operations: </a:t>
            </a:r>
            <a:r>
              <a:rPr sz="1100">
                <a:solidFill>
                  <a:srgbClr val="94A3B8"/>
                </a:solidFill>
                <a:latin typeface="Calibri"/>
              </a:rPr>
              <a:t>Blue-Green production releases with sub-second rollback and 95% test coverage barrier.</a:t>
            </a:r>
          </a:p>
          <a:p>
            <a:pPr>
              <a:spcAft>
                <a:spcPts val="600"/>
              </a:spcAft>
            </a:pPr>
            <a:r>
              <a:rPr sz="1100" b="1">
                <a:solidFill>
                  <a:srgbClr val="F8FAFC"/>
                </a:solidFill>
                <a:latin typeface="Calibri"/>
              </a:rPr>
              <a:t>• Ready for Production: </a:t>
            </a:r>
            <a:r>
              <a:rPr sz="1100">
                <a:solidFill>
                  <a:srgbClr val="94A3B8"/>
                </a:solidFill>
                <a:latin typeface="Calibri"/>
              </a:rPr>
              <a:t>Fully functional, deployed, and validated core banking transaction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