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1.5 menit</a:t>
            </a:r>
          </a:p>
          <a:p/>
          <a:p>
            <a:r>
              <a:t>🎙 SKRIP PRESENTASI:</a:t>
            </a:r>
          </a:p>
          <a:p>
            <a:r>
              <a:t>Selamat pagi/siang rekan-rekan dan bapak/ibu sekalian. Hari ini saya mempresentasikan IndiBank Core Transaction and Ledger Engine. Sistem ini merupakan platform transaksi core banking dan buku besar umum (general ledger) terdistribusi yang dirancang dari prinsip dasar untuk perbankan digital kritis berkecepatan tinggi, seperti BI-FAST, kliring transfer antarbank instan, dan transfer intrabank. Sistem ini mengintegrasikan Java 21 dengan Virtual Threads (Project Loom), Apache Kafka mode KRaft, Redis 7 sebagai penjaga konkurensi terdistribusi, dan Oracle Database 23c sebagai system of record pembukuan berpasangan ACID, yang dideploy secara langsung di Google Kubernetes Engine (GKE) dengan pipeline Blue-Green zero-downtime.</a:t>
            </a:r>
          </a:p>
          <a:p/>
          <a:p>
            <a:r>
              <a:t>📌 POIN UTAMA UNTUK DITEKANKAN:</a:t>
            </a:r>
          </a:p>
          <a:p>
            <a:r>
              <a:t>- Fokus core banking enterprise (BI-FAST / RTGS / Buku Besar Inti)</a:t>
            </a:r>
          </a:p>
          <a:p>
            <a:r>
              <a:t>- Integrasi komprehensif Java 21, Kafka, Redis, dan Oracle DB 23c</a:t>
            </a:r>
          </a:p>
          <a:p>
            <a:r>
              <a:t>- Aktif secara live di cloud publik dengan portabilitas multi-cloud</a:t>
            </a:r>
          </a:p>
          <a:p/>
          <a:p>
            <a:r>
              <a:t>💡 ANTISIPASI PERTANYAAN TEKNIS &amp; JAWABAN:</a:t>
            </a:r>
          </a:p>
          <a:p>
            <a:r>
              <a:t>T: Mengapa Anda membangun sistem ini?</a:t>
            </a:r>
          </a:p>
          <a:p>
            <a:r>
              <a:t>J: Untuk mendemonstrasikan bagaimana arsitektur terdistribusi modern menyelesaikan masalah klasik perbankan seperti pendebetan ganda, pengulangan jaringan, dan inkonsistensi saldo tanpa mengorbankan latensi sub-150ms.</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Di industri perbankan enterprise, ketersediaan sistem tidak boleh mengorbankan integritas data. Pada aplikasi e-commerce, pengulangan request mungkin hanya menambah pesanan ganda yang bisa dibatalkan. Namun di core banking, pendebetan ganda sebesar Rp 50.000.000 adalah pelanggaran regulasi fatal dan kerugian finansial langsung. Kami memetakan 3 tantangan eksistensial: Pertama, putusnya sinyal seluler nasabah yang memicu pengulangan transfer agresif. Kedua, transaksi paralel simultan pada satu rekening yang memicu race condition saldo minus. Dan ketiga, manipulasi saldo langsung yang menghilangkan jejak audit keuangan. Filosofi arsitektur kami jelas: Konsistensi &gt; Latensi &gt; Throughput. Kami tidak pernah mengorbankan invariansi saldo.</a:t>
            </a:r>
          </a:p>
          <a:p/>
          <a:p>
            <a:r>
              <a:t>📌 POIN UTAMA UNTUK DITEKANKAN:</a:t>
            </a:r>
          </a:p>
          <a:p>
            <a:r>
              <a:t>- Perbedaan krusial antara konsistensi e-commerce vs core banking</a:t>
            </a:r>
          </a:p>
          <a:p>
            <a:r>
              <a:t>- Toleransi nol (zero tolerance) untuk pendebetan ganda dan saldo negatif</a:t>
            </a:r>
          </a:p>
          <a:p>
            <a:r>
              <a:t>- Kewajiban regulasi pembukuan berpasangan (double-entry bookkeeping)</a:t>
            </a:r>
          </a:p>
          <a:p/>
          <a:p>
            <a:r>
              <a:t>💡 ANTISIPASI PERTANYAAN TEKNIS &amp; JAWABAN:</a:t>
            </a:r>
          </a:p>
          <a:p>
            <a:r>
              <a:t>T: Bagaimana sistem menangani network timeout saat transfer?</a:t>
            </a:r>
          </a:p>
          <a:p>
            <a:r>
              <a:t>J: Transaksi selesai dengan aman di database dan resi di-cache di Redis. Ketika nasabah retry dengan Idempotency-Key yang sama, resi asli langsung dikembalikan tanpa pemotongan saldo ulang.</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Mari kita telusuri blueprint arsitektur multi-tier ini. Pada lapisan terluar, Caddy menangani TLS dan membagi lalu lintas secara cerdas antara domain produksi dan domain preview pengujian. Mesin inti dibangun dengan Java 21 dan Spring Boot 3.3, memanfaatkan Virtual Threads sehingga thread transaksi dapat menunggu operasi I/O tanpa menghabiskan platform threads sistem operasi. Di depan database, Redis 7 bertindak sebagai perisai konkurensi defensif. Redis memeriksa Idempotency-Key dan mengamankan lock terdistribusi pada rekening pengirim. Oracle Database 23c adalah sumber kebenaran tunggal (System of Record). Setiap transfer dieksekusi dalam batasan ACID yang mencatat jurnal ganda yang tidak dapat diubah (immutable). Terakhir, Apache Kafka dalam mode KRaft menangani streaming event secara asinkron, termasuk pemindaian AML fraud secara langsung untuk transaksi di atas 100 juta Rupiah.</a:t>
            </a:r>
          </a:p>
          <a:p/>
          <a:p>
            <a:r>
              <a:t>📌 POIN UTAMA UNTUK DITEKANKAN:</a:t>
            </a:r>
          </a:p>
          <a:p>
            <a:r>
              <a:t>- Pemisahan tanggung jawab (separation of concerns) yang bersih pada 4 lapisan</a:t>
            </a:r>
          </a:p>
          <a:p>
            <a:r>
              <a:t>- Virtual threads menghilangkan bottleneck thread pool pada operasi I/O</a:t>
            </a:r>
          </a:p>
          <a:p>
            <a:r>
              <a:t>- Kafka memisahkan proses kepatuhan berat dari jalur penyelesaian transaksi (settlement)</a:t>
            </a:r>
          </a:p>
          <a:p/>
          <a:p>
            <a:r>
              <a:t>💡 ANTISIPASI PERTANYAAN TEKNIS &amp; JAWABAN:</a:t>
            </a:r>
          </a:p>
          <a:p>
            <a:r>
              <a:t>T: Mengapa memilih Oracle 23c dibanding PostgreSQL?</a:t>
            </a:r>
          </a:p>
          <a:p>
            <a:r>
              <a:t>J: Oracle adalah standar de facto perbankan tier-1 global karena keandalan mesin transaksi ACID, auditabilitas tinggi, check constraint ketat, dan dukungan enterprise.</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Di slide ini kita melihat implementasi teknis dari jaminan konsistensi kami. Pertama, state machine idempotensi Redis: saat request transfer masuk, kami mengeksekusi SETNX atomik. Jika ada request duplikat saat transaksi pertama masih berjalan, request tersebut langsung direspon 409 Conflict. Setelah transaksi settled, kami menyimpan respon 201 selama 24 jam. Saat aplikasi mobile nasabah retry karena sinyal drop, nasabah menerima resi resmi yang sama tanpa pemotongan saldo sepeser pun. Kedua, penguncian terdistribusi: kami mengunci rekening pengirim dengan token berdurasi 10 detik dan merilisnya menggunakan script Lua atomik yang memverifikasi kepemilikan token. Ketiga, mesin double-entry kami: saldo tidak pernah diubah secara sepihak. Setiap transfer menghasilkan baris DEBIT dan KREDIT seimbang. Dan terakhir, Oracle menerapkan CHECK constraint level database bahwa saldo harus &gt;= 0, didukung optimistic locking @Version.</a:t>
            </a:r>
          </a:p>
          <a:p/>
          <a:p>
            <a:r>
              <a:t>📌 POIN UTAMA UNTUK DITEKANKAN:</a:t>
            </a:r>
          </a:p>
          <a:p>
            <a:r>
              <a:t>- Alasan krusial script Lua pada distributed lock (mencegah penghapusan lock milik proses lain)</a:t>
            </a:r>
          </a:p>
          <a:p>
            <a:r>
              <a:t>- Jaminan zero mathematical drift dari prinsip akuntansi double-entry</a:t>
            </a:r>
          </a:p>
          <a:p>
            <a:r>
              <a:t>- Pertahanan berlapis (defense-in-depth) dengan check constraint database</a:t>
            </a:r>
          </a:p>
          <a:p/>
          <a:p>
            <a:r>
              <a:t>💡 ANTISIPASI PERTANYAAN TEKNIS &amp; JAWABAN:</a:t>
            </a:r>
          </a:p>
          <a:p>
            <a:r>
              <a:t>T: Apa yang terjadi jika server Redis down di tengah transfer?</a:t>
            </a:r>
          </a:p>
          <a:p>
            <a:r>
              <a:t>J: Sistem memiliki jalur degradasi anggun (graceful degradation): jika Redis tidak dapat diakses, sistem langsung beralih ke row-level lock Oracle (SELECT FOR UPDATE) untuk menjaga integritas saldo.</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1.5 menit</a:t>
            </a:r>
          </a:p>
          <a:p/>
          <a:p>
            <a:r>
              <a:t>🎙 SKRIP PRESENTASI:</a:t>
            </a:r>
          </a:p>
          <a:p>
            <a:r>
              <a:t>Sekarang mari kita lihat lapisan event streaming kami. Kami menggunakan Apache Kafka dalam mode KRaft, yang meniadakan ketergantungan pada Zookeeper. Ketika transfer antarbank committed di Oracle, event langsung dipublikasikan ke topic `bank.transfers.settled`. Berjalan secara paralel, modul Anti-Money Laundering (AML) kami melakukan pemindaian real-time. Setiap transfer dengan nilai sama dengan atau melebihi 100 juta Rupiah secara otomatis memicu event peringatan ke `bank.fraud.alerts` dengan status CRITICAL. Penting untuk dicatat bahwa pemrosesan kepatuhan ini terpisah secara asinkron dari API HTTP. Nasabah menerima resi 201 dalam waktu di bawah 150 milidetik. Kami juga mengekspos ticker stream memori di `/api/v1/events/recent` yang divisualisasikan langsung pada dashboard kami.</a:t>
            </a:r>
          </a:p>
          <a:p/>
          <a:p>
            <a:r>
              <a:t>📌 POIN UTAMA UNTUK DITEKANKAN:</a:t>
            </a:r>
          </a:p>
          <a:p>
            <a:r>
              <a:t>- Keunggulan mode KRaft (metadata lebih bersih, failover instan)</a:t>
            </a:r>
          </a:p>
          <a:p>
            <a:r>
              <a:t>- Pemisahan settlement sinkron dari pemrosesan kepatuhan asinkron</a:t>
            </a:r>
          </a:p>
          <a:p>
            <a:r>
              <a:t>- Dead-letter queue memastikan pesan bermasalah tidak menghalangi antrean transaksi</a:t>
            </a:r>
          </a:p>
          <a:p/>
          <a:p>
            <a:r>
              <a:t>💡 ANTISIPASI PERTANYAAN TEKNIS &amp; JAWABAN:</a:t>
            </a:r>
          </a:p>
          <a:p>
            <a:r>
              <a:t>T: Bagaimana mencegah event hilang jika Kafka broker down saat commit database?</a:t>
            </a:r>
          </a:p>
          <a:p>
            <a:r>
              <a:t>J: Kami menerapkan pola Transactional Outbox: event disimpan di tabel OUTBOX_EVENTS dalam transaksi database ACID yang sama. Pekerja outbox menjamin pengiriman at-least-once ke Kafka.</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1.5 menit</a:t>
            </a:r>
          </a:p>
          <a:p/>
          <a:p>
            <a:r>
              <a:t>🎙 SKRIP PRESENTASI:</a:t>
            </a:r>
          </a:p>
          <a:p>
            <a:r>
              <a:t>Metodologi pengembangan kami berpegang teguh pada Spec-Driven Development (SDD). Sebelum menulis baris kode Java pertama, kami merumuskan spesifikasi secara formal: Pertama, spesifikasi OpenAPI 3.1 untuk semua endpoint REST yang secara otomatis menghasilkan dokumentasi Swagger interaktif. Kedua, spesifikasi AsyncAPI 3.0 untuk event Kafka. Ketiga, DDL Oracle 23c dengan integritas relasional penuh dan data benih. Dan keempat, spesifikasi konkurensi Redis yang menetapkan konvensi penamaan kunci, masa TTL, dan script Lua. Selain itu, semua respon error mengikuti format standar RFC 7807 Problem Details, memudahkan integrasi sistem pihak ketiga.</a:t>
            </a:r>
          </a:p>
          <a:p/>
          <a:p>
            <a:r>
              <a:t>📌 POIN UTAMA UNTUK DITEKANKAN:</a:t>
            </a:r>
          </a:p>
          <a:p>
            <a:r>
              <a:t>- Spesifikasi menjadi satu-satunya sumber kebenaran (source of truth) di folder /spec</a:t>
            </a:r>
          </a:p>
          <a:p>
            <a:r>
              <a:t>- OpenAPI 3.1 dan AsyncAPI 3.0 menyelaraskan tim frontend, backend, dan auditor</a:t>
            </a:r>
          </a:p>
          <a:p>
            <a:r>
              <a:t>- Standarisasi RFC 7807 menghadirkan pengalaman developer kelas enterprise</a:t>
            </a:r>
          </a:p>
          <a:p/>
          <a:p>
            <a:r>
              <a:t>💡 ANTISIPASI PERTANYAAN TEKNIS &amp; JAWABAN:</a:t>
            </a:r>
          </a:p>
          <a:p>
            <a:r>
              <a:t>T: Bagaimana memastikan kode tidak menyimpang dari spesifikasi OpenAPI?</a:t>
            </a:r>
          </a:p>
          <a:p>
            <a:r>
              <a:t>J: Kami menggunakan anotasi SpringDoc OpenAPI langsung pada DTO dan controller, serta memanfaatkan integration test untuk memvalidasi skema payload terhadap kontrak.</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Beralih ke aspek rekayasa kualitas. Kami menerapkan piramida pengujian 3 tingkat yang sangat disiplin: Pada Tingkat 1, unit test mengisolasi logika bisnis domain, menguji akuisisi lock, transisi idempotensi, dan berbagai kasus batas. Pada Tingkat 2, pengujian integrasi WebMvc menggunakan MockMvc untuk memastikan keandalan validasi Bean Validation, header HTTP, dan kode status RFC 7807. Pada Tingkat 3, skrip otomatisasi bash `test-scenarios.sh` mengeksekusi 7 skenario perbankan nyata terhadap cluster GKE aktif. Yang paling penting, pipeline CI/CD kami menerapkan barrier cakupan JaCoCo minimal 95%: pull request dengan cakupan di bawah 95% akan langsung ditolak otomatis. Hasil pengujian kami saat ini mencapai 99.27% Line Coverage dan 99.04% Instruction Coverage dengan 70 tes yang semuanya berstatus lulus.</a:t>
            </a:r>
          </a:p>
          <a:p/>
          <a:p>
            <a:r>
              <a:t>📌 POIN UTAMA UNTUK DITEKANKAN:</a:t>
            </a:r>
          </a:p>
          <a:p>
            <a:r>
              <a:t>- Tiga lapisan piramida pengujian yang saling melengkapi</a:t>
            </a:r>
          </a:p>
          <a:p>
            <a:r>
              <a:t>- Barrier kualitas JaCoCo &gt;= 95% yang dikunci pada konfigurasi Maven dan CI/CD</a:t>
            </a:r>
          </a:p>
          <a:p>
            <a:r>
              <a:t>- Konfigurasi lombok.config untuk mengecualikan boilerplate dari analisis cakupan</a:t>
            </a:r>
          </a:p>
          <a:p/>
          <a:p>
            <a:r>
              <a:t>💡 ANTISIPASI PERTANYAAN TEKNIS &amp; JAWABAN:</a:t>
            </a:r>
          </a:p>
          <a:p>
            <a:r>
              <a:t>T: Bagaimana mencegah pengujian E2E memperlambat developer?</a:t>
            </a:r>
          </a:p>
          <a:p>
            <a:r>
              <a:t>J: Pengujian unit dan WebMvc berjalan kurang dari 45 detik pada langkah build CI. Pengujian E2E live dijalankan secara otomatis di lingkungan preview sebelum proses merge ke branch utama.</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Mari kita tinjau aspek Site Reliability Engineering (SRE). Pada core banking, SRE bertujuan memastikan prediktabilitas dan pembatasan dampak kegagalan (blast radius). Kami menetapkan SLO yang ketat: ketersediaan 99.99% dengan batas error budget 4.3 menit per bulan. Target latensi adalah sub-150ms untuk p95 dan sub-500ms untuk p99. Dan invariansi saldo buku besar memiliki toleransi nol: jika ada drift sepeser pun, sistem akan menghentikan transaksi secara aman. Kami memantau Empat Sinyal Emas via metrik Prometheus di `/actuator/prometheus`. Sangat penting: kami membedakan error 4xx validasi bisnis nasabah, seperti saldo kurang, dari error 5xx server, sehingga kesalahan input nasabah tidak menghanguskan error budget ketersediaan sistem. Kami juga memasang Kubernetes Horizontal Pod Autoscaler (HPA) untuk autoscaling 1 sampai 5 pod, serta menyusun runbook SOP penanganan insiden.</a:t>
            </a:r>
          </a:p>
          <a:p/>
          <a:p>
            <a:r>
              <a:t>📌 POIN UTAMA UNTUK DITEKANKAN:</a:t>
            </a:r>
          </a:p>
          <a:p>
            <a:r>
              <a:t>- Pemisahan tegas antara error 4xx bisnis dan 5xx server dalam kalkulasi error budget</a:t>
            </a:r>
          </a:p>
          <a:p>
            <a:r>
              <a:t>- Strategi multi-window multi-burn-rate alerting (burn rate 1 jam dan 6 jam)</a:t>
            </a:r>
          </a:p>
          <a:p>
            <a:r>
              <a:t>- Autoscaling Kubernetes HPA dan aturan alert Prometheus produksi</a:t>
            </a:r>
          </a:p>
          <a:p/>
          <a:p>
            <a:r>
              <a:t>💡 ANTISIPASI PERTANYAAN TEKNIS &amp; JAWABAN:</a:t>
            </a:r>
          </a:p>
          <a:p>
            <a:r>
              <a:t>T: Bagaimana cara menangani kelaparan koneksi database (HikariCP starvation)?</a:t>
            </a:r>
          </a:p>
          <a:p>
            <a:r>
              <a:t>J: Alert Prometheus kami mendeteksi jika ada thread pending lebih dari 30 detik. Bersamaan dengan itu, HPA menskalakan pod aplikasi dan rate limiter Redis melindungi database dari lonjakan trafik mendadak.</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Pipeline rilis kami menjamin zero-downtime dan pengendalian radius dampak (blast radius) secara aman. Pertama, push langsung ke branch `main` diblokir total melalui GitHub Branch Protection dengan penegakan level admin. Setiap perubahan wajib melalui branch fitur dan PR. Kedua, setiap kali branch fitur di-push, pipeline CI/CD kami mendeploy kontainer preview ke `https://test.indibank.aldianapps.com`. Hal ini memungkinkan developer dan stakeholder memverifikasi fungsionalitas secara langsung di domain aktif sebelum digabungkan. Ketiga, ketika PR di-merge ke `main`, pipeline Blue-Green kami secara otomatis mendeploy image baru ke slot standby (misal green), menunggu pod siap sempurna, dan mem-patch selector Service Kubernetes secara atomik. Pengalihan trafik terjadi secara instan tanpa ada request yang terputus. Jika terdeteksi masalah, kami dapat melakukan rollback dalam waktu kurang dari satu detik.</a:t>
            </a:r>
          </a:p>
          <a:p/>
          <a:p>
            <a:r>
              <a:t>📌 POIN UTAMA UNTUK DITEKANKAN:</a:t>
            </a:r>
          </a:p>
          <a:p>
            <a:r>
              <a:t>- Branch protection dengan enforce_admins: true dan required status checks</a:t>
            </a:r>
          </a:p>
          <a:p>
            <a:r>
              <a:t>- Pemisahan domain uji: test.indibank.aldianapps.com vs indibank.aldianapps.com</a:t>
            </a:r>
          </a:p>
          <a:p>
            <a:r>
              <a:t>- Mekanisme rollback atomik sub-detik menggunakan selector Service Kubernetes</a:t>
            </a:r>
          </a:p>
          <a:p/>
          <a:p>
            <a:r>
              <a:t>💡 ANTISIPASI PERTANYAAN TEKNIS &amp; JAWABAN:</a:t>
            </a:r>
          </a:p>
          <a:p>
            <a:r>
              <a:t>T: Mengapa memilih Blue-Green dibanding Canary untuk core banking?</a:t>
            </a:r>
          </a:p>
          <a:p>
            <a:r>
              <a:t>J: Pada sistem pembukuan finansial, menjalankan dua versi aplikasi berbeda secara bersamaan ke database yang sama berisiko menimbulkan inkonsistensi skema. Blue-Green memberikan batasan versi yang tegas dan kemampuan rollback instan.</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1.5 menit</a:t>
            </a:r>
          </a:p>
          <a:p/>
          <a:p>
            <a:r>
              <a:t>🎙 SKRIP PRESENTASI:</a:t>
            </a:r>
          </a:p>
          <a:p>
            <a:r>
              <a:t>Meskipun demonstrasi live kami berjalan di Google Kubernetes Engine region Jakarta, seluruh platform ini dirancang dengan portabilitas multi-cloud dan on-premise. Banyak institusi perbankan yang mengoperasikan arsitektur hybrid atau menggunakan AWS, Azure, maupun on-premise Red Hat OpenShift. Kami telah menyusun Helm chart produksi di `helm/indibank/` yang memungkinkan deployment ke cluster Kubernetes standar mana pun, termasuk Minikube lokal untuk pengembangan offline. Arsitektur deployment ini dijelaskan secara mendalam di `docs/deployment/MULTI_PLATFORM.md`. Selain itu, kontainer kami mematuhi standar keamanan enterprise: berjalan sebagai user non-root dan memiliki kuota resource CPU serta memori yang terkelola.</a:t>
            </a:r>
          </a:p>
          <a:p/>
          <a:p>
            <a:r>
              <a:t>📌 POIN UTAMA UNTUK DITEKANKAN:</a:t>
            </a:r>
          </a:p>
          <a:p>
            <a:r>
              <a:t>- Kesiapan multi-cloud (GCP, AWS, Azure, OpenShift, lokal)</a:t>
            </a:r>
          </a:p>
          <a:p>
            <a:r>
              <a:t>- Helm chart terpadu di helm/indibank/</a:t>
            </a:r>
          </a:p>
          <a:p>
            <a:r>
              <a:t>- Pengerasan kontainer enterprise (user non-root, batas resource ketat)</a:t>
            </a:r>
          </a:p>
          <a:p/>
          <a:p>
            <a:r>
              <a:t>💡 ANTISIPASI PERTANYAAN TEKNIS &amp; JAWABAN:</a:t>
            </a:r>
          </a:p>
          <a:p>
            <a:r>
              <a:t>T: Bagaimana menangani persistensi database di berbagai provider cloud?</a:t>
            </a:r>
          </a:p>
          <a:p>
            <a:r>
              <a:t>J: Kami menggunakan Kubernetes PersistentVolumeClaims (PVC) yang dipetakan ke StorageClass bawaan masing-masing cloud—Persistent Disk di GCP, EBS di AWS, dan Managed Disk di Azure.</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ESTIMASI WAKTU: 2 menit</a:t>
            </a:r>
          </a:p>
          <a:p/>
          <a:p>
            <a:r>
              <a:t>🎙 SKRIP PRESENTASI:</a:t>
            </a:r>
          </a:p>
          <a:p>
            <a:r>
              <a:t>Sebagai penutup, IndiBank Core Engine bukan sekadar prototipe di atas kertas—ini adalah sistem transaksi perbankan inti aktif yang sedang berjalan di Google Cloud saat ini. Bapak dan ibu dapat membuka `https://indibank.aldianapps.com` melalui browser laptop atau ponsel untuk mengeksekusi transfer antarbank langsung, memeriksa buku besar umum, dan melihat ticker event Kafka bergerak secara real-time. Rangkaian pengujian otomatis kami telah memvalidasi seluruh 7 skenario perbankan inti terhadap lingkungan produksi aktif, dan semuanya berhasil lulus dengan sempurna. Sebagai rangkuman apa yang telah kita bangun: Pertama, konsistensi finansial absolut berbasis akuntansi berpasangan di Oracle 23c. Kedua, konkurensi defensif dengan idempotensi Redis dan distributed locking yang mencegah pendebetan ganda. Ketiga, streaming event throughput tinggi dengan Kafka KRaft. Dan keempat, operasi rilis Blue-Green zero-downtime dengan barrier pengujian 95% dan observabilitas SRE lengkap. Terima kasih banyak atas waktu dan perhatiannya, dan saya siap menjawab pertanyaan teknis dari bapak/ibu sekalian.</a:t>
            </a:r>
          </a:p>
          <a:p/>
          <a:p>
            <a:r>
              <a:t>📌 POIN UTAMA UNTUK DITEKANKAN:</a:t>
            </a:r>
          </a:p>
          <a:p>
            <a:r>
              <a:t>- Undang evaluator untuk mencoba dashboard live di https://indibank.aldianapps.com</a:t>
            </a:r>
          </a:p>
          <a:p>
            <a:r>
              <a:t>- Tekankan tingkat kelulusan 100% pada 7 skenario verifikasi otomatis</a:t>
            </a:r>
          </a:p>
          <a:p>
            <a:r>
              <a:t>- Ulangi empat pilar utama: konsistensi, keamanan konkurensi, streaming event, dan SRE</a:t>
            </a:r>
          </a:p>
          <a:p/>
          <a:p>
            <a:r>
              <a:t>💡 ANTISIPASI PERTANYAAN TEKNIS &amp; JAWABAN:</a:t>
            </a:r>
          </a:p>
          <a:p>
            <a:r>
              <a:t>T: Apa roadmap arsitektur berikutnya untuk sistem ini?</a:t>
            </a:r>
          </a:p>
          <a:p>
            <a:r>
              <a:t>J: Fase berikutnya adalah integrasi replikasi database active-active lintas region dengan Oracle GoldenGate, MirrorMaker 2 untuk Kafka antar-cluster, dan otentikasi mTLS dengan OAuth2/OIDC di API Gateway.</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914400" y="1097280"/>
            <a:ext cx="10332720" cy="457200"/>
          </a:xfrm>
          <a:prstGeom prst="rect">
            <a:avLst/>
          </a:prstGeom>
          <a:noFill/>
        </p:spPr>
        <p:txBody>
          <a:bodyPr wrap="none">
            <a:spAutoFit/>
          </a:bodyPr>
          <a:lstStyle/>
          <a:p>
            <a:pPr>
              <a:defRPr sz="1300" b="1">
                <a:solidFill>
                  <a:srgbClr val="10B981"/>
                </a:solidFill>
                <a:latin typeface="Calibri"/>
              </a:defRPr>
            </a:pPr>
            <a:r>
              <a:t>ARSITEKTUR CORE BANKING ENTERPRISE</a:t>
            </a:r>
          </a:p>
        </p:txBody>
      </p:sp>
      <p:sp>
        <p:nvSpPr>
          <p:cNvPr id="3" name="TextBox 2"/>
          <p:cNvSpPr txBox="1"/>
          <p:nvPr/>
        </p:nvSpPr>
        <p:spPr>
          <a:xfrm>
            <a:off x="914400" y="1645920"/>
            <a:ext cx="10332720" cy="1371600"/>
          </a:xfrm>
          <a:prstGeom prst="rect">
            <a:avLst/>
          </a:prstGeom>
          <a:noFill/>
        </p:spPr>
        <p:txBody>
          <a:bodyPr wrap="square">
            <a:spAutoFit/>
          </a:bodyPr>
          <a:lstStyle/>
          <a:p>
            <a:pPr>
              <a:defRPr sz="3800" b="1">
                <a:solidFill>
                  <a:srgbClr val="F8FAFC"/>
                </a:solidFill>
                <a:latin typeface="Calibri"/>
              </a:defRPr>
            </a:pPr>
            <a:r>
              <a:t>IndiBank Core Transaction &amp; Ledger Engine</a:t>
            </a:r>
          </a:p>
          <a:p>
            <a:pPr>
              <a:spcBef>
                <a:spcPts val="800"/>
              </a:spcBef>
              <a:defRPr sz="1800">
                <a:solidFill>
                  <a:srgbClr val="0EA5E9"/>
                </a:solidFill>
                <a:latin typeface="Calibri"/>
              </a:defRPr>
            </a:pPr>
            <a:r>
              <a:t>Arsitektur Produksi, Defensive Concurrency, &amp; Integritas Finansial Zero-Loss</a:t>
            </a:r>
          </a:p>
        </p:txBody>
      </p:sp>
      <p:sp>
        <p:nvSpPr>
          <p:cNvPr id="4" name="Rounded Rectangle 3"/>
          <p:cNvSpPr/>
          <p:nvPr/>
        </p:nvSpPr>
        <p:spPr>
          <a:xfrm>
            <a:off x="914400" y="3474720"/>
            <a:ext cx="10362895" cy="1280160"/>
          </a:xfrm>
          <a:prstGeom prst="roundRect">
            <a:avLst/>
          </a:prstGeom>
          <a:solidFill>
            <a:srgbClr val="1A2639"/>
          </a:solidFill>
          <a:ln>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latin typeface="Calibri"/>
              </a:defRPr>
            </a:pPr>
            <a:r>
              <a:t>TEKNOLOGI &amp; PLATFORM CLOUD PRODUKSI</a:t>
            </a:r>
          </a:p>
          <a:p>
            <a:pPr>
              <a:spcBef>
                <a:spcPts val="400"/>
              </a:spcBef>
              <a:defRPr sz="1300" b="1">
                <a:solidFill>
                  <a:srgbClr val="F8FAFC"/>
                </a:solidFill>
                <a:latin typeface="Calibri"/>
              </a:defRPr>
            </a:pPr>
            <a:r>
              <a:t>Java 21 (Virtual Threads) • Spring Boot 3.3 • Apache Kafka 3.7 (KRaft) • Redis 7 • Oracle DB 23c • GKE • Terraform</a:t>
            </a:r>
          </a:p>
          <a:p>
            <a:pPr>
              <a:spcBef>
                <a:spcPts val="400"/>
              </a:spcBef>
              <a:defRPr sz="1100">
                <a:solidFill>
                  <a:srgbClr val="10B981"/>
                </a:solidFill>
                <a:latin typeface="Calibri"/>
              </a:defRPr>
            </a:pPr>
            <a:r>
              <a:t>Live URLs: https://indibank.aldianapps.com • https://test.indibank.aldianapps.com</a:t>
            </a:r>
          </a:p>
        </p:txBody>
      </p:sp>
      <p:sp>
        <p:nvSpPr>
          <p:cNvPr id="5" name="TextBox 4"/>
          <p:cNvSpPr txBox="1"/>
          <p:nvPr/>
        </p:nvSpPr>
        <p:spPr>
          <a:xfrm>
            <a:off x="914400" y="5120640"/>
            <a:ext cx="10332720" cy="914400"/>
          </a:xfrm>
          <a:prstGeom prst="rect">
            <a:avLst/>
          </a:prstGeom>
          <a:noFill/>
        </p:spPr>
        <p:txBody>
          <a:bodyPr wrap="none">
            <a:spAutoFit/>
          </a:bodyPr>
          <a:lstStyle/>
          <a:p>
            <a:pPr>
              <a:defRPr sz="1400" b="1">
                <a:solidFill>
                  <a:srgbClr val="F8FAFC"/>
                </a:solidFill>
                <a:latin typeface="Calibri"/>
              </a:defRPr>
            </a:pPr>
            <a:r>
              <a:t>Presenter: Aldian Fazrihady</a:t>
            </a:r>
          </a:p>
          <a:p>
            <a:pPr>
              <a:defRPr sz="1200">
                <a:solidFill>
                  <a:srgbClr val="94A3B8"/>
                </a:solidFill>
                <a:latin typeface="Calibri"/>
              </a:defRPr>
            </a:pPr>
            <a:r>
              <a:t>Lead Platform &amp; Distributed Systems Engineer | Spec-Driven Development Showcase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MASALAH BISNIS &amp; KEBUTUHAN SISTEM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Dilema Core Banking: Real-Time vs Konsistensi ACID</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1. Retry Jaringan &amp; Replay Request</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Risiko: </a:t>
            </a:r>
            <a:r>
              <a:rPr sz="1100">
                <a:solidFill>
                  <a:srgbClr val="94A3B8"/>
                </a:solidFill>
                <a:latin typeface="Calibri"/>
              </a:rPr>
              <a:t>Koneksi seluler yang tidak stabil membuat aplikasi mobile nasabah mengirim pengulangan transfer berkali-kali.</a:t>
            </a:r>
          </a:p>
          <a:p>
            <a:pPr>
              <a:spcAft>
                <a:spcPts val="600"/>
              </a:spcAft>
            </a:pPr>
            <a:r>
              <a:rPr sz="1100" b="1">
                <a:solidFill>
                  <a:srgbClr val="F8FAFC"/>
                </a:solidFill>
                <a:latin typeface="Calibri"/>
              </a:rPr>
              <a:t>• Malapetaka: </a:t>
            </a:r>
            <a:r>
              <a:rPr sz="1100">
                <a:solidFill>
                  <a:srgbClr val="94A3B8"/>
                </a:solidFill>
                <a:latin typeface="Calibri"/>
              </a:rPr>
              <a:t>Tanpa idempotensi deterministik, pengulangan request memicu pendebetan saldo ganda (double debit).</a:t>
            </a:r>
          </a:p>
          <a:p>
            <a:pPr>
              <a:spcAft>
                <a:spcPts val="600"/>
              </a:spcAft>
            </a:pPr>
            <a:r>
              <a:rPr sz="1100" b="1">
                <a:solidFill>
                  <a:srgbClr val="F8FAFC"/>
                </a:solidFill>
                <a:latin typeface="Calibri"/>
              </a:rPr>
              <a:t>• Solusi IndiBank: </a:t>
            </a:r>
            <a:r>
              <a:rPr sz="1100">
                <a:solidFill>
                  <a:srgbClr val="94A3B8"/>
                </a:solidFill>
                <a:latin typeface="Calibri"/>
              </a:rPr>
              <a:t>Redis SETNX dengan cache resi 24 jam mengembalikan bukti transaksi asli secara instan tanpa mendebet ulang.</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2. Konkurensi &amp; Race Conditions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Risiko: </a:t>
            </a:r>
            <a:r>
              <a:rPr sz="1100">
                <a:solidFill>
                  <a:srgbClr val="94A3B8"/>
                </a:solidFill>
                <a:latin typeface="Calibri"/>
              </a:rPr>
              <a:t>Transaksi bersamaan menyasar rekening sumber yang sama (misal: penggajian massal/payroll atau auto-debet).</a:t>
            </a:r>
          </a:p>
          <a:p>
            <a:pPr>
              <a:spcAft>
                <a:spcPts val="600"/>
              </a:spcAft>
            </a:pPr>
            <a:r>
              <a:rPr sz="1100" b="1">
                <a:solidFill>
                  <a:srgbClr val="F8FAFC"/>
                </a:solidFill>
                <a:latin typeface="Calibri"/>
              </a:rPr>
              <a:t>• Malapetaka: </a:t>
            </a:r>
            <a:r>
              <a:rPr sz="1100">
                <a:solidFill>
                  <a:srgbClr val="94A3B8"/>
                </a:solidFill>
                <a:latin typeface="Calibri"/>
              </a:rPr>
              <a:t>Kondisi balapan read-modify-write menyebabkan overdraft dan saldo nasabah menjadi negatif.</a:t>
            </a:r>
          </a:p>
          <a:p>
            <a:pPr>
              <a:spcAft>
                <a:spcPts val="600"/>
              </a:spcAft>
            </a:pPr>
            <a:r>
              <a:rPr sz="1100" b="1">
                <a:solidFill>
                  <a:srgbClr val="F8FAFC"/>
                </a:solidFill>
                <a:latin typeface="Calibri"/>
              </a:rPr>
              <a:t>• Solusi IndiBank: </a:t>
            </a:r>
            <a:r>
              <a:rPr sz="1100">
                <a:solidFill>
                  <a:srgbClr val="94A3B8"/>
                </a:solidFill>
                <a:latin typeface="Calibri"/>
              </a:rPr>
              <a:t>Mutex terdistribusi dengan auto-expiry 10 detik dan rilis atomik Lua menjamin eksekusi satu arah (single-flight).</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3. Drift Buku Besar &amp; Auditabilitas</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Risiko: </a:t>
            </a:r>
            <a:r>
              <a:rPr sz="1100">
                <a:solidFill>
                  <a:srgbClr val="94A3B8"/>
                </a:solidFill>
                <a:latin typeface="Calibri"/>
              </a:rPr>
              <a:t>Pembaruan saldo langsung di tempat (in-place update) menghilangkan jejak audit historis.</a:t>
            </a:r>
          </a:p>
          <a:p>
            <a:pPr>
              <a:spcAft>
                <a:spcPts val="600"/>
              </a:spcAft>
            </a:pPr>
            <a:r>
              <a:rPr sz="1100" b="1">
                <a:solidFill>
                  <a:srgbClr val="F8FAFC"/>
                </a:solidFill>
                <a:latin typeface="Calibri"/>
              </a:rPr>
              <a:t>• Malapetaka: </a:t>
            </a:r>
            <a:r>
              <a:rPr sz="1100">
                <a:solidFill>
                  <a:srgbClr val="94A3B8"/>
                </a:solidFill>
                <a:latin typeface="Calibri"/>
              </a:rPr>
              <a:t>Uang berpindah tanpa adanya ayat jurnal penyeimbang, menyebabkan pelanggaran regulasi BI/OJK.</a:t>
            </a:r>
          </a:p>
          <a:p>
            <a:pPr>
              <a:spcAft>
                <a:spcPts val="600"/>
              </a:spcAft>
            </a:pPr>
            <a:r>
              <a:rPr sz="1100" b="1">
                <a:solidFill>
                  <a:srgbClr val="F8FAFC"/>
                </a:solidFill>
                <a:latin typeface="Calibri"/>
              </a:rPr>
              <a:t>• Solusi IndiBank: </a:t>
            </a:r>
            <a:r>
              <a:rPr sz="1100">
                <a:solidFill>
                  <a:srgbClr val="94A3B8"/>
                </a:solidFill>
                <a:latin typeface="Calibri"/>
              </a:rPr>
              <a:t>Pembukuan Berpasangan (Double-Entry) ketat di Oracle 23c memastikan total debit selalu setara total kredit.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ARSITEKTUR SISTEM &amp; TINJAUAN C4</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Arsitektur Multi-Tier Enterprise &amp; Alur Data</a:t>
            </a:r>
          </a:p>
        </p:txBody>
      </p:sp>
      <p:sp>
        <p:nvSpPr>
          <p:cNvPr id="4" name="Rounded Rectangle 3"/>
          <p:cNvSpPr/>
          <p:nvPr/>
        </p:nvSpPr>
        <p:spPr>
          <a:xfrm>
            <a:off x="7315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194560" cy="411480"/>
          </a:xfrm>
          <a:prstGeom prst="rect">
            <a:avLst/>
          </a:prstGeom>
          <a:noFill/>
        </p:spPr>
        <p:txBody>
          <a:bodyPr wrap="square">
            <a:spAutoFit/>
          </a:bodyPr>
          <a:lstStyle/>
          <a:p>
            <a:pPr>
              <a:defRPr sz="1400" b="1">
                <a:solidFill>
                  <a:srgbClr val="0EA5E9"/>
                </a:solidFill>
                <a:latin typeface="Calibri"/>
              </a:defRPr>
            </a:pPr>
            <a:r>
              <a:t>Ingress &amp; Mesin Utama</a:t>
            </a:r>
          </a:p>
        </p:txBody>
      </p:sp>
      <p:sp>
        <p:nvSpPr>
          <p:cNvPr id="6" name="TextBox 5"/>
          <p:cNvSpPr txBox="1"/>
          <p:nvPr/>
        </p:nvSpPr>
        <p:spPr>
          <a:xfrm>
            <a:off x="9144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Caddy Ingress: </a:t>
            </a:r>
            <a:r>
              <a:rPr sz="1100">
                <a:solidFill>
                  <a:srgbClr val="94A3B8"/>
                </a:solidFill>
                <a:latin typeface="Calibri"/>
              </a:rPr>
              <a:t>Routing TLS multi-domain, sertifikat otomatis Let's Encrypt, terminasi SSL di edge.</a:t>
            </a:r>
          </a:p>
          <a:p>
            <a:pPr>
              <a:spcAft>
                <a:spcPts val="600"/>
              </a:spcAft>
            </a:pPr>
            <a:r>
              <a:rPr sz="1100" b="1">
                <a:solidFill>
                  <a:srgbClr val="F8FAFC"/>
                </a:solidFill>
                <a:latin typeface="Calibri"/>
              </a:rPr>
              <a:t>• Java 21 LTS: </a:t>
            </a:r>
            <a:r>
              <a:rPr sz="1100">
                <a:solidFill>
                  <a:srgbClr val="94A3B8"/>
                </a:solidFill>
                <a:latin typeface="Calibri"/>
              </a:rPr>
              <a:t>Virtual Threads (Project Loom) menangani konkurensi tinggi tanpa kehabisan OS thread.</a:t>
            </a:r>
          </a:p>
          <a:p>
            <a:pPr>
              <a:spcAft>
                <a:spcPts val="600"/>
              </a:spcAft>
            </a:pPr>
            <a:r>
              <a:rPr sz="1100" b="1">
                <a:solidFill>
                  <a:srgbClr val="F8FAFC"/>
                </a:solidFill>
                <a:latin typeface="Calibri"/>
              </a:rPr>
              <a:t>• Spring Boot 3.3: </a:t>
            </a:r>
            <a:r>
              <a:rPr sz="1100">
                <a:solidFill>
                  <a:srgbClr val="94A3B8"/>
                </a:solidFill>
                <a:latin typeface="Calibri"/>
              </a:rPr>
              <a:t>Arsitektur Heksagonal, Spring Data JPA, Spring Kafka, Spring Data Redis.</a:t>
            </a:r>
          </a:p>
          <a:p>
            <a:pPr>
              <a:spcAft>
                <a:spcPts val="600"/>
              </a:spcAft>
            </a:pPr>
            <a:r>
              <a:rPr sz="1100" b="1">
                <a:solidFill>
                  <a:srgbClr val="F8FAFC"/>
                </a:solidFill>
                <a:latin typeface="Calibri"/>
              </a:rPr>
              <a:t>• OpenAPI / Swagger: </a:t>
            </a:r>
            <a:r>
              <a:rPr sz="1100">
                <a:solidFill>
                  <a:srgbClr val="94A3B8"/>
                </a:solidFill>
                <a:latin typeface="Calibri"/>
              </a:rPr>
              <a:t>Dokumentasi interaktif live di /swagger-ui.html.</a:t>
            </a:r>
          </a:p>
        </p:txBody>
      </p:sp>
      <p:sp>
        <p:nvSpPr>
          <p:cNvPr id="7" name="Rounded Rectangle 6"/>
          <p:cNvSpPr/>
          <p:nvPr/>
        </p:nvSpPr>
        <p:spPr>
          <a:xfrm>
            <a:off x="34747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600200"/>
            <a:ext cx="2194560" cy="411480"/>
          </a:xfrm>
          <a:prstGeom prst="rect">
            <a:avLst/>
          </a:prstGeom>
          <a:noFill/>
        </p:spPr>
        <p:txBody>
          <a:bodyPr wrap="square">
            <a:spAutoFit/>
          </a:bodyPr>
          <a:lstStyle/>
          <a:p>
            <a:pPr>
              <a:defRPr sz="1400" b="1">
                <a:solidFill>
                  <a:srgbClr val="F59E0B"/>
                </a:solidFill>
                <a:latin typeface="Calibri"/>
              </a:defRPr>
            </a:pPr>
            <a:r>
              <a:t>Konkurensi &amp; Cache</a:t>
            </a:r>
          </a:p>
        </p:txBody>
      </p:sp>
      <p:sp>
        <p:nvSpPr>
          <p:cNvPr id="9" name="TextBox 8"/>
          <p:cNvSpPr txBox="1"/>
          <p:nvPr/>
        </p:nvSpPr>
        <p:spPr>
          <a:xfrm>
            <a:off x="36576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Redis 7 Store: </a:t>
            </a:r>
            <a:r>
              <a:rPr sz="1100">
                <a:solidFill>
                  <a:srgbClr val="94A3B8"/>
                </a:solidFill>
                <a:latin typeface="Calibri"/>
              </a:rPr>
              <a:t>Penyimpanan in-memory performa tinggi di depan database relasional.</a:t>
            </a:r>
          </a:p>
          <a:p>
            <a:pPr>
              <a:spcAft>
                <a:spcPts val="600"/>
              </a:spcAft>
            </a:pPr>
            <a:r>
              <a:rPr sz="1100" b="1">
                <a:solidFill>
                  <a:srgbClr val="F8FAFC"/>
                </a:solidFill>
                <a:latin typeface="Calibri"/>
              </a:rPr>
              <a:t>• Mesin Idempotensi: </a:t>
            </a:r>
            <a:r>
              <a:rPr sz="1100">
                <a:solidFill>
                  <a:srgbClr val="94A3B8"/>
                </a:solidFill>
                <a:latin typeface="Calibri"/>
              </a:rPr>
              <a:t>State machine SETNX dengan penyimpanan respon 24 jam.</a:t>
            </a:r>
          </a:p>
          <a:p>
            <a:pPr>
              <a:spcAft>
                <a:spcPts val="600"/>
              </a:spcAft>
            </a:pPr>
            <a:r>
              <a:rPr sz="1100" b="1">
                <a:solidFill>
                  <a:srgbClr val="F8FAFC"/>
                </a:solidFill>
                <a:latin typeface="Calibri"/>
              </a:rPr>
              <a:t>• Distributed Lock: </a:t>
            </a:r>
            <a:r>
              <a:rPr sz="1100">
                <a:solidFill>
                  <a:srgbClr val="94A3B8"/>
                </a:solidFill>
                <a:latin typeface="Calibri"/>
              </a:rPr>
              <a:t>Mutex tingkat rekening dengan auto-expiry 10 detik.</a:t>
            </a:r>
          </a:p>
          <a:p>
            <a:pPr>
              <a:spcAft>
                <a:spcPts val="600"/>
              </a:spcAft>
            </a:pPr>
            <a:r>
              <a:rPr sz="1100" b="1">
                <a:solidFill>
                  <a:srgbClr val="F8FAFC"/>
                </a:solidFill>
                <a:latin typeface="Calibri"/>
              </a:rPr>
              <a:t>• Fast Balance Cache: </a:t>
            </a:r>
            <a:r>
              <a:rPr sz="1100">
                <a:solidFill>
                  <a:srgbClr val="94A3B8"/>
                </a:solidFill>
                <a:latin typeface="Calibri"/>
              </a:rPr>
              <a:t>Pembacaan saldo sub-milidetik dengan pembatalan cache otomatis.</a:t>
            </a:r>
          </a:p>
        </p:txBody>
      </p:sp>
      <p:sp>
        <p:nvSpPr>
          <p:cNvPr id="10" name="Rounded Rectangle 9"/>
          <p:cNvSpPr/>
          <p:nvPr/>
        </p:nvSpPr>
        <p:spPr>
          <a:xfrm>
            <a:off x="62179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2194560" cy="411480"/>
          </a:xfrm>
          <a:prstGeom prst="rect">
            <a:avLst/>
          </a:prstGeom>
          <a:noFill/>
        </p:spPr>
        <p:txBody>
          <a:bodyPr wrap="square">
            <a:spAutoFit/>
          </a:bodyPr>
          <a:lstStyle/>
          <a:p>
            <a:pPr>
              <a:defRPr sz="1400" b="1">
                <a:solidFill>
                  <a:srgbClr val="10B981"/>
                </a:solidFill>
                <a:latin typeface="Calibri"/>
              </a:defRPr>
            </a:pPr>
            <a:r>
              <a:t>System of Record</a:t>
            </a:r>
          </a:p>
        </p:txBody>
      </p:sp>
      <p:sp>
        <p:nvSpPr>
          <p:cNvPr id="12" name="TextBox 11"/>
          <p:cNvSpPr txBox="1"/>
          <p:nvPr/>
        </p:nvSpPr>
        <p:spPr>
          <a:xfrm>
            <a:off x="64008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Oracle DB 23c: </a:t>
            </a:r>
            <a:r>
              <a:rPr sz="1100">
                <a:solidFill>
                  <a:srgbClr val="94A3B8"/>
                </a:solidFill>
                <a:latin typeface="Calibri"/>
              </a:rPr>
              <a:t>Buku besar transaksi finansial ACID dan status rekening master.</a:t>
            </a:r>
          </a:p>
          <a:p>
            <a:pPr>
              <a:spcAft>
                <a:spcPts val="600"/>
              </a:spcAft>
            </a:pPr>
            <a:r>
              <a:rPr sz="1100" b="1">
                <a:solidFill>
                  <a:srgbClr val="F8FAFC"/>
                </a:solidFill>
                <a:latin typeface="Calibri"/>
              </a:rPr>
              <a:t>• Double-Entry Book: </a:t>
            </a:r>
            <a:r>
              <a:rPr sz="1100">
                <a:solidFill>
                  <a:srgbClr val="94A3B8"/>
                </a:solidFill>
                <a:latin typeface="Calibri"/>
              </a:rPr>
              <a:t>Jurnal baris berpasangan: DEBIT rekening sumber, KREDIT rekening tujuan.</a:t>
            </a:r>
          </a:p>
          <a:p>
            <a:pPr>
              <a:spcAft>
                <a:spcPts val="600"/>
              </a:spcAft>
            </a:pPr>
            <a:r>
              <a:rPr sz="1100" b="1">
                <a:solidFill>
                  <a:srgbClr val="F8FAFC"/>
                </a:solidFill>
                <a:latin typeface="Calibri"/>
              </a:rPr>
              <a:t>• Pengecekan Integritas: </a:t>
            </a:r>
            <a:r>
              <a:rPr sz="1100">
                <a:solidFill>
                  <a:srgbClr val="94A3B8"/>
                </a:solidFill>
                <a:latin typeface="Calibri"/>
              </a:rPr>
              <a:t>CHECK (balance &gt;= 0) dan optimistic locking (@Version).</a:t>
            </a:r>
          </a:p>
          <a:p>
            <a:pPr>
              <a:spcAft>
                <a:spcPts val="600"/>
              </a:spcAft>
            </a:pPr>
            <a:r>
              <a:rPr sz="1100" b="1">
                <a:solidFill>
                  <a:srgbClr val="F8FAFC"/>
                </a:solidFill>
                <a:latin typeface="Calibri"/>
              </a:rPr>
              <a:t>• Tabel Outbox: </a:t>
            </a:r>
            <a:r>
              <a:rPr sz="1100">
                <a:solidFill>
                  <a:srgbClr val="94A3B8"/>
                </a:solidFill>
                <a:latin typeface="Calibri"/>
              </a:rPr>
              <a:t>Transactional outbox menjamin publikasi event Kafka tanpa kehilangan data.</a:t>
            </a:r>
          </a:p>
        </p:txBody>
      </p:sp>
      <p:sp>
        <p:nvSpPr>
          <p:cNvPr id="13" name="Rounded Rectangle 12"/>
          <p:cNvSpPr/>
          <p:nvPr/>
        </p:nvSpPr>
        <p:spPr>
          <a:xfrm>
            <a:off x="89611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1600200"/>
            <a:ext cx="2194560" cy="411480"/>
          </a:xfrm>
          <a:prstGeom prst="rect">
            <a:avLst/>
          </a:prstGeom>
          <a:noFill/>
        </p:spPr>
        <p:txBody>
          <a:bodyPr wrap="square">
            <a:spAutoFit/>
          </a:bodyPr>
          <a:lstStyle/>
          <a:p>
            <a:pPr>
              <a:defRPr sz="1400" b="1">
                <a:solidFill>
                  <a:srgbClr val="8B5CF6"/>
                </a:solidFill>
                <a:latin typeface="Calibri"/>
              </a:defRPr>
            </a:pPr>
            <a:r>
              <a:t>Streaming &amp; Operasional</a:t>
            </a:r>
          </a:p>
        </p:txBody>
      </p:sp>
      <p:sp>
        <p:nvSpPr>
          <p:cNvPr id="15" name="TextBox 14"/>
          <p:cNvSpPr txBox="1"/>
          <p:nvPr/>
        </p:nvSpPr>
        <p:spPr>
          <a:xfrm>
            <a:off x="91440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Apache Kafka KRaft: </a:t>
            </a:r>
            <a:r>
              <a:rPr sz="1100">
                <a:solidFill>
                  <a:srgbClr val="94A3B8"/>
                </a:solidFill>
                <a:latin typeface="Calibri"/>
              </a:rPr>
              <a:t>Streaming event throughput tinggi terpisah dari thread pool HTTP.</a:t>
            </a:r>
          </a:p>
          <a:p>
            <a:pPr>
              <a:spcAft>
                <a:spcPts val="600"/>
              </a:spcAft>
            </a:pPr>
            <a:r>
              <a:rPr sz="1100" b="1">
                <a:solidFill>
                  <a:srgbClr val="F8FAFC"/>
                </a:solidFill>
                <a:latin typeface="Calibri"/>
              </a:rPr>
              <a:t>• Mesin Fraud AML: </a:t>
            </a:r>
            <a:r>
              <a:rPr sz="1100">
                <a:solidFill>
                  <a:srgbClr val="94A3B8"/>
                </a:solidFill>
                <a:latin typeface="Calibri"/>
              </a:rPr>
              <a:t>Skrining kepemilikan real-time mendeteksi transaksi &gt;= Rp 100 Juta.</a:t>
            </a:r>
          </a:p>
          <a:p>
            <a:pPr>
              <a:spcAft>
                <a:spcPts val="600"/>
              </a:spcAft>
            </a:pPr>
            <a:r>
              <a:rPr sz="1100" b="1">
                <a:solidFill>
                  <a:srgbClr val="F8FAFC"/>
                </a:solidFill>
                <a:latin typeface="Calibri"/>
              </a:rPr>
              <a:t>• Dead-Letter Queue: </a:t>
            </a:r>
            <a:r>
              <a:rPr sz="1100">
                <a:solidFill>
                  <a:srgbClr val="94A3B8"/>
                </a:solidFill>
                <a:latin typeface="Calibri"/>
              </a:rPr>
              <a:t>Isolasi event gagal ke bank.transfers.dlq dengan kebijakan retry.</a:t>
            </a:r>
          </a:p>
          <a:p>
            <a:pPr>
              <a:spcAft>
                <a:spcPts val="600"/>
              </a:spcAft>
            </a:pPr>
            <a:r>
              <a:rPr sz="1100" b="1">
                <a:solidFill>
                  <a:srgbClr val="F8FAFC"/>
                </a:solidFill>
                <a:latin typeface="Calibri"/>
              </a:rPr>
              <a:t>• Telemetri Prometheus: </a:t>
            </a:r>
            <a:r>
              <a:rPr sz="1100">
                <a:solidFill>
                  <a:srgbClr val="94A3B8"/>
                </a:solidFill>
                <a:latin typeface="Calibri"/>
              </a:rPr>
              <a:t>Empat Sinyal Emas diekspos secara live di /actuator/prometheus.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KONSISTENSI FINANSIAL &amp; KEAMANAN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Defensive Concurrency &amp; Jaminan Buku Besar Zero-Loss</a:t>
            </a:r>
          </a:p>
        </p:txBody>
      </p:sp>
      <p:sp>
        <p:nvSpPr>
          <p:cNvPr id="4" name="Rounded Rectangle 3"/>
          <p:cNvSpPr/>
          <p:nvPr/>
        </p:nvSpPr>
        <p:spPr>
          <a:xfrm>
            <a:off x="7315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1. State Machine Idempotensi Redis</a:t>
            </a:r>
          </a:p>
        </p:txBody>
      </p:sp>
      <p:sp>
        <p:nvSpPr>
          <p:cNvPr id="6" name="TextBox 5"/>
          <p:cNvSpPr txBox="1"/>
          <p:nvPr/>
        </p:nvSpPr>
        <p:spPr>
          <a:xfrm>
            <a:off x="9144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Akuisisi Kunci Atomik: </a:t>
            </a:r>
            <a:r>
              <a:rPr sz="1100">
                <a:solidFill>
                  <a:srgbClr val="94A3B8"/>
                </a:solidFill>
                <a:latin typeface="Calibri"/>
              </a:rPr>
              <a:t>SETNX indibank:idempotency:{key} IN_PROGRESS dengan masa kunci 60 detik.</a:t>
            </a:r>
          </a:p>
          <a:p>
            <a:pPr>
              <a:spcAft>
                <a:spcPts val="600"/>
              </a:spcAft>
            </a:pPr>
            <a:r>
              <a:rPr sz="1100" b="1">
                <a:solidFill>
                  <a:srgbClr val="F8FAFC"/>
                </a:solidFill>
                <a:latin typeface="Calibri"/>
              </a:rPr>
              <a:t>• Deduplikasi In-Flight: </a:t>
            </a:r>
            <a:r>
              <a:rPr sz="1100">
                <a:solidFill>
                  <a:srgbClr val="94A3B8"/>
                </a:solidFill>
                <a:latin typeface="Calibri"/>
              </a:rPr>
              <a:t>Permintaan bersamaan dengan kunci sama langsung mendapat HTTP 409 Conflict.</a:t>
            </a:r>
          </a:p>
          <a:p>
            <a:pPr>
              <a:spcAft>
                <a:spcPts val="600"/>
              </a:spcAft>
            </a:pPr>
            <a:r>
              <a:rPr sz="1100" b="1">
                <a:solidFill>
                  <a:srgbClr val="F8FAFC"/>
                </a:solidFill>
                <a:latin typeface="Calibri"/>
              </a:rPr>
              <a:t>• Cache Resi 24 Jam: </a:t>
            </a:r>
            <a:r>
              <a:rPr sz="1100">
                <a:solidFill>
                  <a:srgbClr val="94A3B8"/>
                </a:solidFill>
                <a:latin typeface="Calibri"/>
              </a:rPr>
              <a:t>Saat settlement berhasil, payload respon disimpan selama 86.400 detik (24 jam).</a:t>
            </a:r>
          </a:p>
          <a:p>
            <a:pPr>
              <a:spcAft>
                <a:spcPts val="600"/>
              </a:spcAft>
            </a:pPr>
            <a:r>
              <a:rPr sz="1100" b="1">
                <a:solidFill>
                  <a:srgbClr val="F8FAFC"/>
                </a:solidFill>
                <a:latin typeface="Calibri"/>
              </a:rPr>
              <a:t>• Pelepasan Kunci Aman: </a:t>
            </a:r>
            <a:r>
              <a:rPr sz="1100">
                <a:solidFill>
                  <a:srgbClr val="94A3B8"/>
                </a:solidFill>
                <a:latin typeface="Calibri"/>
              </a:rPr>
              <a:t>Jika validasi bisnis gagal, kunci dihapus agar nasabah bisa mengulang transfer.</a:t>
            </a:r>
          </a:p>
        </p:txBody>
      </p:sp>
      <p:sp>
        <p:nvSpPr>
          <p:cNvPr id="7" name="Rounded Rectangle 6"/>
          <p:cNvSpPr/>
          <p:nvPr/>
        </p:nvSpPr>
        <p:spPr>
          <a:xfrm>
            <a:off x="62179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2. Mutex Terdistribusi &amp; Rilis Atomik Lua</a:t>
            </a:r>
          </a:p>
        </p:txBody>
      </p:sp>
      <p:sp>
        <p:nvSpPr>
          <p:cNvPr id="9" name="TextBox 8"/>
          <p:cNvSpPr txBox="1"/>
          <p:nvPr/>
        </p:nvSpPr>
        <p:spPr>
          <a:xfrm>
            <a:off x="64008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Lock Rekening Sumber: </a:t>
            </a:r>
            <a:r>
              <a:rPr sz="1100">
                <a:solidFill>
                  <a:srgbClr val="94A3B8"/>
                </a:solidFill>
                <a:latin typeface="Calibri"/>
              </a:rPr>
              <a:t>SET indibank:lock:account:{acc} {UUID} NX PX 10000 menjamin eksekusi satu arah.</a:t>
            </a:r>
          </a:p>
          <a:p>
            <a:pPr>
              <a:spcAft>
                <a:spcPts val="600"/>
              </a:spcAft>
            </a:pPr>
            <a:r>
              <a:rPr sz="1100" b="1">
                <a:solidFill>
                  <a:srgbClr val="F8FAFC"/>
                </a:solidFill>
                <a:latin typeface="Calibri"/>
              </a:rPr>
              <a:t>• Auto-Expiry TTL 10 Detik: </a:t>
            </a:r>
            <a:r>
              <a:rPr sz="1100">
                <a:solidFill>
                  <a:srgbClr val="94A3B8"/>
                </a:solidFill>
                <a:latin typeface="Calibri"/>
              </a:rPr>
              <a:t>Mencegah terjadinya deadlock permanen jika kontainer crash di tengah jalan.</a:t>
            </a:r>
          </a:p>
          <a:p>
            <a:pPr>
              <a:spcAft>
                <a:spcPts val="600"/>
              </a:spcAft>
            </a:pPr>
            <a:r>
              <a:rPr sz="1100" b="1">
                <a:solidFill>
                  <a:srgbClr val="F8FAFC"/>
                </a:solidFill>
                <a:latin typeface="Calibri"/>
              </a:rPr>
              <a:t>• Script Lua Verifikasi Token: </a:t>
            </a:r>
            <a:r>
              <a:rPr sz="1100">
                <a:solidFill>
                  <a:srgbClr val="94A3B8"/>
                </a:solidFill>
                <a:latin typeface="Calibri"/>
              </a:rPr>
              <a:t>Memverifikasi kepemilikan token sebelum menghapus kunci, mencegah pembajakan lock.</a:t>
            </a:r>
          </a:p>
          <a:p>
            <a:pPr>
              <a:spcAft>
                <a:spcPts val="600"/>
              </a:spcAft>
            </a:pPr>
            <a:r>
              <a:rPr sz="1100" b="1">
                <a:solidFill>
                  <a:srgbClr val="F8FAFC"/>
                </a:solidFill>
                <a:latin typeface="Calibri"/>
              </a:rPr>
              <a:t>• Manajemen Antrean Padat: </a:t>
            </a:r>
            <a:r>
              <a:rPr sz="1100">
                <a:solidFill>
                  <a:srgbClr val="94A3B8"/>
                </a:solidFill>
                <a:latin typeface="Calibri"/>
              </a:rPr>
              <a:t>Jika lock tidak berhasil diperoleh dalam batas waktu, respon 409 Conflict dikembalikan.</a:t>
            </a:r>
          </a:p>
        </p:txBody>
      </p:sp>
      <p:sp>
        <p:nvSpPr>
          <p:cNvPr id="10" name="Rounded Rectangle 9"/>
          <p:cNvSpPr/>
          <p:nvPr/>
        </p:nvSpPr>
        <p:spPr>
          <a:xfrm>
            <a:off x="7315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4846320" cy="411480"/>
          </a:xfrm>
          <a:prstGeom prst="rect">
            <a:avLst/>
          </a:prstGeom>
          <a:noFill/>
        </p:spPr>
        <p:txBody>
          <a:bodyPr wrap="square">
            <a:spAutoFit/>
          </a:bodyPr>
          <a:lstStyle/>
          <a:p>
            <a:pPr>
              <a:defRPr sz="1400" b="1">
                <a:solidFill>
                  <a:srgbClr val="10B981"/>
                </a:solidFill>
                <a:latin typeface="Calibri"/>
              </a:defRPr>
            </a:pPr>
            <a:r>
              <a:t>3. Pembukuan Berpasangan Ketat (Double-Entry)</a:t>
            </a:r>
          </a:p>
        </p:txBody>
      </p:sp>
      <p:sp>
        <p:nvSpPr>
          <p:cNvPr id="12" name="TextBox 11"/>
          <p:cNvSpPr txBox="1"/>
          <p:nvPr/>
        </p:nvSpPr>
        <p:spPr>
          <a:xfrm>
            <a:off x="9144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Keseimbangan Matematis: </a:t>
            </a:r>
            <a:r>
              <a:rPr sz="1100">
                <a:solidFill>
                  <a:srgbClr val="94A3B8"/>
                </a:solidFill>
                <a:latin typeface="Calibri"/>
              </a:rPr>
              <a:t>Setiap transaksi menghasilkan pasangan baris jurnal DEBIT dan KREDIT yang setara.</a:t>
            </a:r>
          </a:p>
          <a:p>
            <a:pPr>
              <a:spcAft>
                <a:spcPts val="600"/>
              </a:spcAft>
            </a:pPr>
            <a:r>
              <a:rPr sz="1100" b="1">
                <a:solidFill>
                  <a:srgbClr val="F8FAFC"/>
                </a:solidFill>
                <a:latin typeface="Calibri"/>
              </a:rPr>
              <a:t>• Zero Ledger Drift: </a:t>
            </a:r>
            <a:r>
              <a:rPr sz="1100">
                <a:solidFill>
                  <a:srgbClr val="94A3B8"/>
                </a:solidFill>
                <a:latin typeface="Calibri"/>
              </a:rPr>
              <a:t>Invariansi terjamin: |Debit - Kredit| == 0.00 IDR di seluruh transaksi tanpa pengecualian.</a:t>
            </a:r>
          </a:p>
          <a:p>
            <a:pPr>
              <a:spcAft>
                <a:spcPts val="600"/>
              </a:spcAft>
            </a:pPr>
            <a:r>
              <a:rPr sz="1100" b="1">
                <a:solidFill>
                  <a:srgbClr val="F8FAFC"/>
                </a:solidFill>
                <a:latin typeface="Calibri"/>
              </a:rPr>
              <a:t>• Buku Besar Append-Only: </a:t>
            </a:r>
            <a:r>
              <a:rPr sz="1100">
                <a:solidFill>
                  <a:srgbClr val="94A3B8"/>
                </a:solidFill>
                <a:latin typeface="Calibri"/>
              </a:rPr>
              <a:t>Baris jurnal bersifat permanen; data historis tidak pernah diubah atau dihapus.</a:t>
            </a:r>
          </a:p>
          <a:p>
            <a:pPr>
              <a:spcAft>
                <a:spcPts val="600"/>
              </a:spcAft>
            </a:pPr>
            <a:r>
              <a:rPr sz="1100" b="1">
                <a:solidFill>
                  <a:srgbClr val="F8FAFC"/>
                </a:solidFill>
                <a:latin typeface="Calibri"/>
              </a:rPr>
              <a:t>• API Rekening Koran Audit: </a:t>
            </a:r>
            <a:r>
              <a:rPr sz="1100">
                <a:solidFill>
                  <a:srgbClr val="94A3B8"/>
                </a:solidFill>
                <a:latin typeface="Calibri"/>
              </a:rPr>
              <a:t>Pemeriksaan mutasi historis riil secara real-time via /api/v1/accounts/{acc}/statement.</a:t>
            </a:r>
          </a:p>
        </p:txBody>
      </p:sp>
      <p:sp>
        <p:nvSpPr>
          <p:cNvPr id="13" name="Rounded Rectangle 12"/>
          <p:cNvSpPr/>
          <p:nvPr/>
        </p:nvSpPr>
        <p:spPr>
          <a:xfrm>
            <a:off x="62179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69080"/>
            <a:ext cx="4846320" cy="411480"/>
          </a:xfrm>
          <a:prstGeom prst="rect">
            <a:avLst/>
          </a:prstGeom>
          <a:noFill/>
        </p:spPr>
        <p:txBody>
          <a:bodyPr wrap="square">
            <a:spAutoFit/>
          </a:bodyPr>
          <a:lstStyle/>
          <a:p>
            <a:pPr>
              <a:defRPr sz="1400" b="1">
                <a:solidFill>
                  <a:srgbClr val="8B5CF6"/>
                </a:solidFill>
                <a:latin typeface="Calibri"/>
              </a:defRPr>
            </a:pPr>
            <a:r>
              <a:t>4. Constraint Database &amp; Optimistic Locking</a:t>
            </a:r>
          </a:p>
        </p:txBody>
      </p:sp>
      <p:sp>
        <p:nvSpPr>
          <p:cNvPr id="15" name="TextBox 14"/>
          <p:cNvSpPr txBox="1"/>
          <p:nvPr/>
        </p:nvSpPr>
        <p:spPr>
          <a:xfrm>
            <a:off x="64008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Saldo Non-Negatif: </a:t>
            </a:r>
            <a:r>
              <a:rPr sz="1100">
                <a:solidFill>
                  <a:srgbClr val="94A3B8"/>
                </a:solidFill>
                <a:latin typeface="Calibri"/>
              </a:rPr>
              <a:t>Constraint fisik Oracle CHECK (BALANCE &gt;= 0) memblokir terjadinya saldo minus.</a:t>
            </a:r>
          </a:p>
          <a:p>
            <a:pPr>
              <a:spcAft>
                <a:spcPts val="600"/>
              </a:spcAft>
            </a:pPr>
            <a:r>
              <a:rPr sz="1100" b="1">
                <a:solidFill>
                  <a:srgbClr val="F8FAFC"/>
                </a:solidFill>
                <a:latin typeface="Calibri"/>
              </a:rPr>
              <a:t>• Optimistic Locking: </a:t>
            </a:r>
            <a:r>
              <a:rPr sz="1100">
                <a:solidFill>
                  <a:srgbClr val="94A3B8"/>
                </a:solidFill>
                <a:latin typeface="Calibri"/>
              </a:rPr>
              <a:t>Kolom @Version pada entitas rekening mencegah overwrite transaksi yang tumpang tindih.</a:t>
            </a:r>
          </a:p>
          <a:p>
            <a:pPr>
              <a:spcAft>
                <a:spcPts val="600"/>
              </a:spcAft>
            </a:pPr>
            <a:r>
              <a:rPr sz="1100" b="1">
                <a:solidFill>
                  <a:srgbClr val="F8FAFC"/>
                </a:solidFill>
                <a:latin typeface="Calibri"/>
              </a:rPr>
              <a:t>• Rollback Terisolasi: </a:t>
            </a:r>
            <a:r>
              <a:rPr sz="1100">
                <a:solidFill>
                  <a:srgbClr val="94A3B8"/>
                </a:solidFill>
                <a:latin typeface="Calibri"/>
              </a:rPr>
              <a:t>Anotasi @Transactional mengembalikan saldo dan merilis kunci jika terjadi kegagalan.</a:t>
            </a:r>
          </a:p>
          <a:p>
            <a:pPr>
              <a:spcAft>
                <a:spcPts val="600"/>
              </a:spcAft>
            </a:pPr>
            <a:r>
              <a:rPr sz="1100" b="1">
                <a:solidFill>
                  <a:srgbClr val="F8FAFC"/>
                </a:solidFill>
                <a:latin typeface="Calibri"/>
              </a:rPr>
              <a:t>• Tabel Outbox Transaksional: </a:t>
            </a:r>
            <a:r>
              <a:rPr sz="1100">
                <a:solidFill>
                  <a:srgbClr val="94A3B8"/>
                </a:solidFill>
                <a:latin typeface="Calibri"/>
              </a:rPr>
              <a:t>Menjamin konsistensi pengiriman event Kafka sejalan dengan commit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EVENT STREAMING &amp; KEPATUHAN REGULASI</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Apache Kafka KRaft: Asynchronous Decoupling &amp; AML Real-Time</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8B5CF6"/>
                </a:solidFill>
                <a:latin typeface="Calibri"/>
              </a:defRPr>
            </a:pPr>
            <a:r>
              <a:t>Arsitektur Event Kafka KRaft</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Arsitektur Tanpa Zookeeper: </a:t>
            </a:r>
            <a:r>
              <a:rPr sz="1100">
                <a:solidFill>
                  <a:srgbClr val="94A3B8"/>
                </a:solidFill>
                <a:latin typeface="Calibri"/>
              </a:rPr>
              <a:t>Apache Kafka 3.7+ mode KRaft untuk latensi lebih rendah, pemilihan leader lebih cepat, dan efisiensi memori.</a:t>
            </a:r>
          </a:p>
          <a:p>
            <a:pPr>
              <a:spcAft>
                <a:spcPts val="600"/>
              </a:spcAft>
            </a:pPr>
            <a:r>
              <a:rPr sz="1100" b="1">
                <a:solidFill>
                  <a:srgbClr val="F8FAFC"/>
                </a:solidFill>
                <a:latin typeface="Calibri"/>
              </a:rPr>
              <a:t>• Topic 1: bank.transfers.settled: </a:t>
            </a:r>
            <a:r>
              <a:rPr sz="1100">
                <a:solidFill>
                  <a:srgbClr val="94A3B8"/>
                </a:solidFill>
                <a:latin typeface="Calibri"/>
              </a:rPr>
              <a:t>Dipublikasikan segera setelah commit ACID Oracle berhasil. Payload memuat nomor referensi, rekening sumber/tujuan, nilai transfer, dan timestamp.</a:t>
            </a:r>
          </a:p>
          <a:p>
            <a:pPr>
              <a:spcAft>
                <a:spcPts val="600"/>
              </a:spcAft>
            </a:pPr>
            <a:r>
              <a:rPr sz="1100" b="1">
                <a:solidFill>
                  <a:srgbClr val="F8FAFC"/>
                </a:solidFill>
                <a:latin typeface="Calibri"/>
              </a:rPr>
              <a:t>• Topic 2: bank.fraud.alerts: </a:t>
            </a:r>
            <a:r>
              <a:rPr sz="1100">
                <a:solidFill>
                  <a:srgbClr val="94A3B8"/>
                </a:solidFill>
                <a:latin typeface="Calibri"/>
              </a:rPr>
              <a:t>Dipublikasikan oleh pekerja AML real-time saat transaksi berisiko tinggi atau mencurigakan terdeteksi.</a:t>
            </a:r>
          </a:p>
          <a:p>
            <a:pPr>
              <a:spcAft>
                <a:spcPts val="600"/>
              </a:spcAft>
            </a:pPr>
            <a:r>
              <a:rPr sz="1100" b="1">
                <a:solidFill>
                  <a:srgbClr val="F8FAFC"/>
                </a:solidFill>
                <a:latin typeface="Calibri"/>
              </a:rPr>
              <a:t>• Topic 3: bank.transfers.dlq: </a:t>
            </a:r>
            <a:r>
              <a:rPr sz="1100">
                <a:solidFill>
                  <a:srgbClr val="94A3B8"/>
                </a:solidFill>
                <a:latin typeface="Calibri"/>
              </a:rPr>
              <a:t>Dead-letter queue yang menangkap pesan gagal setelah 3 kali retry dengan exponential backoff.</a:t>
            </a:r>
          </a:p>
          <a:p>
            <a:pPr>
              <a:spcAft>
                <a:spcPts val="600"/>
              </a:spcAft>
            </a:pPr>
            <a:r>
              <a:rPr sz="1100" b="1">
                <a:solidFill>
                  <a:srgbClr val="F8FAFC"/>
                </a:solidFill>
                <a:latin typeface="Calibri"/>
              </a:rPr>
              <a:t>• Pemisahan Asinkron (Decoupling): </a:t>
            </a:r>
            <a:r>
              <a:rPr sz="1100">
                <a:solidFill>
                  <a:srgbClr val="94A3B8"/>
                </a:solidFill>
                <a:latin typeface="Calibri"/>
              </a:rPr>
              <a:t>Nasabah menerima respon HTTP 201 Created secara instan; notifikasi dan kepatuhan diproses asinkron di belakang layar.</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Mesin Kepatuhan AML Real-Time</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Aturan Transaksi Bernilai Tinggi: </a:t>
            </a:r>
            <a:r>
              <a:rPr sz="1100">
                <a:solidFill>
                  <a:srgbClr val="94A3B8"/>
                </a:solidFill>
                <a:latin typeface="Calibri"/>
              </a:rPr>
              <a:t>Secara otomatis mendeteksi dan menandai transfer tunggal &gt;= Rp 100.000.000 sebagai risiko CRITICAL AML.</a:t>
            </a:r>
          </a:p>
          <a:p>
            <a:pPr>
              <a:spcAft>
                <a:spcPts val="600"/>
              </a:spcAft>
            </a:pPr>
            <a:r>
              <a:rPr sz="1100" b="1">
                <a:solidFill>
                  <a:srgbClr val="F8FAFC"/>
                </a:solidFill>
                <a:latin typeface="Calibri"/>
              </a:rPr>
              <a:t>• Consumer Group Independen: </a:t>
            </a:r>
            <a:r>
              <a:rPr sz="1100">
                <a:solidFill>
                  <a:srgbClr val="94A3B8"/>
                </a:solidFill>
                <a:latin typeface="Calibri"/>
              </a:rPr>
              <a:t>Consumer group 'indibank-fraud-detector' membaca dari topic bank.transfers.settled secara paralel tanpa membebani thread transfer.</a:t>
            </a:r>
          </a:p>
          <a:p>
            <a:pPr>
              <a:spcAft>
                <a:spcPts val="600"/>
              </a:spcAft>
            </a:pPr>
            <a:r>
              <a:rPr sz="1100" b="1">
                <a:solidFill>
                  <a:srgbClr val="F8FAFC"/>
                </a:solidFill>
                <a:latin typeface="Calibri"/>
              </a:rPr>
              <a:t>• Payload Peringatan Terstruktur: </a:t>
            </a:r>
            <a:r>
              <a:rPr sz="1100">
                <a:solidFill>
                  <a:srgbClr val="94A3B8"/>
                </a:solidFill>
                <a:latin typeface="Calibri"/>
              </a:rPr>
              <a:t>Menghasilkan pesan alert lengkap dengan level keparahan, alasan risiko, dan kode regulasi.</a:t>
            </a:r>
          </a:p>
          <a:p>
            <a:pPr>
              <a:spcAft>
                <a:spcPts val="600"/>
              </a:spcAft>
            </a:pPr>
            <a:r>
              <a:rPr sz="1100" b="1">
                <a:solidFill>
                  <a:srgbClr val="F8FAFC"/>
                </a:solidFill>
                <a:latin typeface="Calibri"/>
              </a:rPr>
              <a:t>• Ticker Stream In-Memory Live: </a:t>
            </a:r>
            <a:r>
              <a:rPr sz="1100">
                <a:solidFill>
                  <a:srgbClr val="94A3B8"/>
                </a:solidFill>
                <a:latin typeface="Calibri"/>
              </a:rPr>
              <a:t>RecentEventsTracker mengelola ring buffer memori yang dapat diakses publik di /api/v1/events/recent.</a:t>
            </a:r>
          </a:p>
          <a:p>
            <a:pPr>
              <a:spcAft>
                <a:spcPts val="600"/>
              </a:spcAft>
            </a:pPr>
            <a:r>
              <a:rPr sz="1100" b="1">
                <a:solidFill>
                  <a:srgbClr val="F8FAFC"/>
                </a:solidFill>
                <a:latin typeface="Calibri"/>
              </a:rPr>
              <a:t>• Demonstrasi Dashboard Interaktif: </a:t>
            </a:r>
            <a:r>
              <a:rPr sz="1100">
                <a:solidFill>
                  <a:srgbClr val="94A3B8"/>
                </a:solidFill>
                <a:latin typeface="Calibri"/>
              </a:rPr>
              <a:t>Evaluator dan auditor dapat melihat event Kafka mengalir secara live detik demi detik di dashboard perbankan kami.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METODOLOGI REKAYASA PERANGKAT LUNAK</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Spec-Driven Development (SDD) &amp; Tata Kelola Kontrak</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Kontrak REST &amp; Asinkron</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Spesifikasi OpenAPI 3.1: </a:t>
            </a:r>
            <a:r>
              <a:rPr sz="1100">
                <a:solidFill>
                  <a:srgbClr val="94A3B8"/>
                </a:solidFill>
                <a:latin typeface="Calibri"/>
              </a:rPr>
              <a:t>spec/openapi.yaml mendefinisikan seluruh endpoint, parameter, struktur request/response, dan skema validasi.</a:t>
            </a:r>
          </a:p>
          <a:p>
            <a:pPr>
              <a:spcAft>
                <a:spcPts val="600"/>
              </a:spcAft>
            </a:pPr>
            <a:r>
              <a:rPr sz="1100" b="1">
                <a:solidFill>
                  <a:srgbClr val="F8FAFC"/>
                </a:solidFill>
                <a:latin typeface="Calibri"/>
              </a:rPr>
              <a:t>• Swagger UI Interaktif: </a:t>
            </a:r>
            <a:r>
              <a:rPr sz="1100">
                <a:solidFill>
                  <a:srgbClr val="94A3B8"/>
                </a:solidFill>
                <a:latin typeface="Calibri"/>
              </a:rPr>
              <a:t>Dokumentasi interaktif live di /swagger-ui.html dengan kemampuan 'Try It Out' langsung.</a:t>
            </a:r>
          </a:p>
          <a:p>
            <a:pPr>
              <a:spcAft>
                <a:spcPts val="600"/>
              </a:spcAft>
            </a:pPr>
            <a:r>
              <a:rPr sz="1100" b="1">
                <a:solidFill>
                  <a:srgbClr val="F8FAFC"/>
                </a:solidFill>
                <a:latin typeface="Calibri"/>
              </a:rPr>
              <a:t>• Spesifikasi AsyncAPI 3.0: </a:t>
            </a:r>
            <a:r>
              <a:rPr sz="1100">
                <a:solidFill>
                  <a:srgbClr val="94A3B8"/>
                </a:solidFill>
                <a:latin typeface="Calibri"/>
              </a:rPr>
              <a:t>spec/asyncapi.yaml mendefinisikan kontrak streaming Kafka, skema payload pesan, dan channel bindings.</a:t>
            </a:r>
          </a:p>
          <a:p>
            <a:pPr>
              <a:spcAft>
                <a:spcPts val="600"/>
              </a:spcAft>
            </a:pPr>
            <a:r>
              <a:rPr sz="1100" b="1">
                <a:solidFill>
                  <a:srgbClr val="F8FAFC"/>
                </a:solidFill>
                <a:latin typeface="Calibri"/>
              </a:rPr>
              <a:t>• Multi-Lingkungan: </a:t>
            </a:r>
            <a:r>
              <a:rPr sz="1100">
                <a:solidFill>
                  <a:srgbClr val="94A3B8"/>
                </a:solidFill>
                <a:latin typeface="Calibri"/>
              </a:rPr>
              <a:t>Kontrak mendefinisikan URL produksi GKE, lingkungan pengujian preview, dan lokal dev.</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Spesifikasi Database &amp; Cache</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DDL Relasional Oracle 23c: </a:t>
            </a:r>
            <a:r>
              <a:rPr sz="1100">
                <a:solidFill>
                  <a:srgbClr val="94A3B8"/>
                </a:solidFill>
                <a:latin typeface="Calibri"/>
              </a:rPr>
              <a:t>spec/database-schema.sql mendefinisikan tabel, kolom identity, foreign key, dan CHECK constraints.</a:t>
            </a:r>
          </a:p>
          <a:p>
            <a:pPr>
              <a:spcAft>
                <a:spcPts val="600"/>
              </a:spcAft>
            </a:pPr>
            <a:r>
              <a:rPr sz="1100" b="1">
                <a:solidFill>
                  <a:srgbClr val="F8FAFC"/>
                </a:solidFill>
                <a:latin typeface="Calibri"/>
              </a:rPr>
              <a:t>• Skema Buku Besar Dobel: </a:t>
            </a:r>
            <a:r>
              <a:rPr sz="1100">
                <a:solidFill>
                  <a:srgbClr val="94A3B8"/>
                </a:solidFill>
                <a:latin typeface="Calibri"/>
              </a:rPr>
              <a:t>Tabel JOURNAL_ENTRIES dengan ENUM DEBIT/CREDIT yang ketat dan verifikasi saldo non-negatif.</a:t>
            </a:r>
          </a:p>
          <a:p>
            <a:pPr>
              <a:spcAft>
                <a:spcPts val="600"/>
              </a:spcAft>
            </a:pPr>
            <a:r>
              <a:rPr sz="1100" b="1">
                <a:solidFill>
                  <a:srgbClr val="F8FAFC"/>
                </a:solidFill>
                <a:latin typeface="Calibri"/>
              </a:rPr>
              <a:t>• Spesifikasi Konkurensi Redis: </a:t>
            </a:r>
            <a:r>
              <a:rPr sz="1100">
                <a:solidFill>
                  <a:srgbClr val="94A3B8"/>
                </a:solidFill>
                <a:latin typeface="Calibri"/>
              </a:rPr>
              <a:t>spec/redis-spec.md mendefinisikan konvensi namespace kunci, masa kedaluwarsa TTL, dan script penguncian Lua.</a:t>
            </a:r>
          </a:p>
          <a:p>
            <a:pPr>
              <a:spcAft>
                <a:spcPts val="600"/>
              </a:spcAft>
            </a:pPr>
            <a:r>
              <a:rPr sz="1100" b="1">
                <a:solidFill>
                  <a:srgbClr val="F8FAFC"/>
                </a:solidFill>
                <a:latin typeface="Calibri"/>
              </a:rPr>
              <a:t>• Data Awal Demo: </a:t>
            </a:r>
            <a:r>
              <a:rPr sz="1100">
                <a:solidFill>
                  <a:srgbClr val="94A3B8"/>
                </a:solidFill>
                <a:latin typeface="Calibri"/>
              </a:rPr>
              <a:t>5 rekening perbankan terdaftar: korporasi, ritel tabungan, payroll, dan kliring nasional.</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Format Error Standar RFC 7807</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RFC 7807 Problem Details: </a:t>
            </a:r>
            <a:r>
              <a:rPr sz="1100">
                <a:solidFill>
                  <a:srgbClr val="94A3B8"/>
                </a:solidFill>
                <a:latin typeface="Calibri"/>
              </a:rPr>
              <a:t>Seluruh respon error mengikuti standar perbankan yang seragam melalui ApiErrorDto.</a:t>
            </a:r>
          </a:p>
          <a:p>
            <a:pPr>
              <a:spcAft>
                <a:spcPts val="600"/>
              </a:spcAft>
            </a:pPr>
            <a:r>
              <a:rPr sz="1100" b="1">
                <a:solidFill>
                  <a:srgbClr val="F8FAFC"/>
                </a:solidFill>
                <a:latin typeface="Calibri"/>
              </a:rPr>
              <a:t>• HTTP 400 Bad Request: </a:t>
            </a:r>
            <a:r>
              <a:rPr sz="1100">
                <a:solidFill>
                  <a:srgbClr val="94A3B8"/>
                </a:solidFill>
                <a:latin typeface="Calibri"/>
              </a:rPr>
              <a:t>Header wajib tidak ada, format nomor rekening bukan 10 digit, atau skema JSON tidak valid.</a:t>
            </a:r>
          </a:p>
          <a:p>
            <a:pPr>
              <a:spcAft>
                <a:spcPts val="600"/>
              </a:spcAft>
            </a:pPr>
            <a:r>
              <a:rPr sz="1100" b="1">
                <a:solidFill>
                  <a:srgbClr val="F8FAFC"/>
                </a:solidFill>
                <a:latin typeface="Calibri"/>
              </a:rPr>
              <a:t>• HTTP 409 Conflict: </a:t>
            </a:r>
            <a:r>
              <a:rPr sz="1100">
                <a:solidFill>
                  <a:srgbClr val="94A3B8"/>
                </a:solidFill>
                <a:latin typeface="Calibri"/>
              </a:rPr>
              <a:t>Transaksi duplikat sedang berjalan atau terjadi perebutan lock rekening pengirim.</a:t>
            </a:r>
          </a:p>
          <a:p>
            <a:pPr>
              <a:spcAft>
                <a:spcPts val="600"/>
              </a:spcAft>
            </a:pPr>
            <a:r>
              <a:rPr sz="1100" b="1">
                <a:solidFill>
                  <a:srgbClr val="F8FAFC"/>
                </a:solidFill>
                <a:latin typeface="Calibri"/>
              </a:rPr>
              <a:t>• HTTP 422 Unprocessable: </a:t>
            </a:r>
            <a:r>
              <a:rPr sz="1100">
                <a:solidFill>
                  <a:srgbClr val="94A3B8"/>
                </a:solidFill>
                <a:latin typeface="Calibri"/>
              </a:rPr>
              <a:t>Pelanggaran aturan domain bisnis: saldo tidak cukup, rekening tidak aktif, atau transfer ke diri sendiri.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JAMINAN KUALITAS &amp; BARRIER CAKUPAN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Piramida Pengujian 3-Tingkat &amp; Barrier Cakupan JaCoCo</a:t>
            </a:r>
          </a:p>
        </p:txBody>
      </p:sp>
      <p:sp>
        <p:nvSpPr>
          <p:cNvPr id="4" name="Rounded Rectangle 3"/>
          <p:cNvSpPr/>
          <p:nvPr/>
        </p:nvSpPr>
        <p:spPr>
          <a:xfrm>
            <a:off x="7315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Tingkat 1: Pengujian Unit</a:t>
            </a:r>
          </a:p>
        </p:txBody>
      </p:sp>
      <p:sp>
        <p:nvSpPr>
          <p:cNvPr id="6" name="TextBox 5"/>
          <p:cNvSpPr txBox="1"/>
          <p:nvPr/>
        </p:nvSpPr>
        <p:spPr>
          <a:xfrm>
            <a:off x="9144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Logika Bisnis &amp; Domain: </a:t>
            </a:r>
            <a:r>
              <a:rPr sz="1100">
                <a:solidFill>
                  <a:srgbClr val="94A3B8"/>
                </a:solidFill>
                <a:latin typeface="Calibri"/>
              </a:rPr>
              <a:t>Pengujian unit mendalam pada TransferService, AccountService, dan IdempotencyService.</a:t>
            </a:r>
          </a:p>
          <a:p>
            <a:pPr>
              <a:spcAft>
                <a:spcPts val="600"/>
              </a:spcAft>
            </a:pPr>
            <a:r>
              <a:rPr sz="1100" b="1">
                <a:solidFill>
                  <a:srgbClr val="F8FAFC"/>
                </a:solidFill>
                <a:latin typeface="Calibri"/>
              </a:rPr>
              <a:t>• Mocking Terisolasi: </a:t>
            </a:r>
            <a:r>
              <a:rPr sz="1100">
                <a:solidFill>
                  <a:srgbClr val="94A3B8"/>
                </a:solidFill>
                <a:latin typeface="Calibri"/>
              </a:rPr>
              <a:t>Verifikasi Mockito pada lock Redis, rilis Lua, dan rollback transaksi database.</a:t>
            </a:r>
          </a:p>
          <a:p>
            <a:pPr>
              <a:spcAft>
                <a:spcPts val="600"/>
              </a:spcAft>
            </a:pPr>
            <a:r>
              <a:rPr sz="1100" b="1">
                <a:solidFill>
                  <a:srgbClr val="F8FAFC"/>
                </a:solidFill>
                <a:latin typeface="Calibri"/>
              </a:rPr>
              <a:t>• Kasus Negatif &amp; Ekstrem: </a:t>
            </a:r>
            <a:r>
              <a:rPr sz="1100">
                <a:solidFill>
                  <a:srgbClr val="94A3B8"/>
                </a:solidFill>
                <a:latin typeface="Calibri"/>
              </a:rPr>
              <a:t>Uji tuntas untuk saldo nol, transfer ke rekening sendiri, dan ketidakcocokan mata uang.</a:t>
            </a:r>
          </a:p>
          <a:p>
            <a:pPr>
              <a:spcAft>
                <a:spcPts val="600"/>
              </a:spcAft>
            </a:pPr>
            <a:r>
              <a:rPr sz="1100" b="1">
                <a:solidFill>
                  <a:srgbClr val="F8FAFC"/>
                </a:solidFill>
                <a:latin typeface="Calibri"/>
              </a:rPr>
              <a:t>• Komponen Kafka: </a:t>
            </a:r>
            <a:r>
              <a:rPr sz="1100">
                <a:solidFill>
                  <a:srgbClr val="94A3B8"/>
                </a:solidFill>
                <a:latin typeface="Calibri"/>
              </a:rPr>
              <a:t>Verifikasi publikasi event, pemicu aturan AML, dan pengiriman ke antrean DLQ.</a:t>
            </a:r>
          </a:p>
        </p:txBody>
      </p:sp>
      <p:sp>
        <p:nvSpPr>
          <p:cNvPr id="7" name="Rounded Rectangle 6"/>
          <p:cNvSpPr/>
          <p:nvPr/>
        </p:nvSpPr>
        <p:spPr>
          <a:xfrm>
            <a:off x="43891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Tingkat 2: Integrasi WebMvc</a:t>
            </a:r>
          </a:p>
        </p:txBody>
      </p:sp>
      <p:sp>
        <p:nvSpPr>
          <p:cNvPr id="9" name="TextBox 8"/>
          <p:cNvSpPr txBox="1"/>
          <p:nvPr/>
        </p:nvSpPr>
        <p:spPr>
          <a:xfrm>
            <a:off x="45720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Uji Slice HTTP MockMvc: </a:t>
            </a:r>
            <a:r>
              <a:rPr sz="1100">
                <a:solidFill>
                  <a:srgbClr val="94A3B8"/>
                </a:solidFill>
                <a:latin typeface="Calibri"/>
              </a:rPr>
              <a:t>@WebMvcTest menguji TransferController dan AccountController pada web slice terisolasi.</a:t>
            </a:r>
          </a:p>
          <a:p>
            <a:pPr>
              <a:spcAft>
                <a:spcPts val="600"/>
              </a:spcAft>
            </a:pPr>
            <a:r>
              <a:rPr sz="1100" b="1">
                <a:solidFill>
                  <a:srgbClr val="F8FAFC"/>
                </a:solidFill>
                <a:latin typeface="Calibri"/>
              </a:rPr>
              <a:t>• Validasi Header &amp; DTO: </a:t>
            </a:r>
            <a:r>
              <a:rPr sz="1100">
                <a:solidFill>
                  <a:srgbClr val="94A3B8"/>
                </a:solidFill>
                <a:latin typeface="Calibri"/>
              </a:rPr>
              <a:t>Memvalidasi kewajiban header Idempotency-Key, regex 10-digit, dan batas @DecimalMax.</a:t>
            </a:r>
          </a:p>
          <a:p>
            <a:pPr>
              <a:spcAft>
                <a:spcPts val="600"/>
              </a:spcAft>
            </a:pPr>
            <a:r>
              <a:rPr sz="1100" b="1">
                <a:solidFill>
                  <a:srgbClr val="F8FAFC"/>
                </a:solidFill>
                <a:latin typeface="Calibri"/>
              </a:rPr>
              <a:t>• Pemetaan Exception Global: </a:t>
            </a:r>
            <a:r>
              <a:rPr sz="1100">
                <a:solidFill>
                  <a:srgbClr val="94A3B8"/>
                </a:solidFill>
                <a:latin typeface="Calibri"/>
              </a:rPr>
              <a:t>Memastikan mapping otomatis ke format RFC 7807 HTTP 400, 404, 409, dan 422.</a:t>
            </a:r>
          </a:p>
          <a:p>
            <a:pPr>
              <a:spcAft>
                <a:spcPts val="600"/>
              </a:spcAft>
            </a:pPr>
            <a:r>
              <a:rPr sz="1100" b="1">
                <a:solidFill>
                  <a:srgbClr val="F8FAFC"/>
                </a:solidFill>
                <a:latin typeface="Calibri"/>
              </a:rPr>
              <a:t>• Serialisasi JSON DTO: </a:t>
            </a:r>
            <a:r>
              <a:rPr sz="1100">
                <a:solidFill>
                  <a:srgbClr val="94A3B8"/>
                </a:solidFill>
                <a:latin typeface="Calibri"/>
              </a:rPr>
              <a:t>Memastikan presisi BigDecimal mata uang dan timestamp ISO-8601 tanpa pembulatan.</a:t>
            </a:r>
          </a:p>
        </p:txBody>
      </p:sp>
      <p:sp>
        <p:nvSpPr>
          <p:cNvPr id="10" name="Rounded Rectangle 9"/>
          <p:cNvSpPr/>
          <p:nvPr/>
        </p:nvSpPr>
        <p:spPr>
          <a:xfrm>
            <a:off x="80467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Tingkat 3: End-to-End (E2E) Live</a:t>
            </a:r>
          </a:p>
        </p:txBody>
      </p:sp>
      <p:sp>
        <p:nvSpPr>
          <p:cNvPr id="12" name="TextBox 11"/>
          <p:cNvSpPr txBox="1"/>
          <p:nvPr/>
        </p:nvSpPr>
        <p:spPr>
          <a:xfrm>
            <a:off x="82296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Eksekusi Cluster GKE Aktif: </a:t>
            </a:r>
            <a:r>
              <a:rPr sz="1100">
                <a:solidFill>
                  <a:srgbClr val="94A3B8"/>
                </a:solidFill>
                <a:latin typeface="Calibri"/>
              </a:rPr>
              <a:t>test-scenarios.sh menjalankan 7 skenario perbankan nyata terhadap domain produksi dan preview.</a:t>
            </a:r>
          </a:p>
          <a:p>
            <a:pPr>
              <a:spcAft>
                <a:spcPts val="600"/>
              </a:spcAft>
            </a:pPr>
            <a:r>
              <a:rPr sz="1100" b="1">
                <a:solidFill>
                  <a:srgbClr val="F8FAFC"/>
                </a:solidFill>
                <a:latin typeface="Calibri"/>
              </a:rPr>
              <a:t>• Skenario 1: Query Akun: </a:t>
            </a:r>
            <a:r>
              <a:rPr sz="1100">
                <a:solidFill>
                  <a:srgbClr val="94A3B8"/>
                </a:solidFill>
                <a:latin typeface="Calibri"/>
              </a:rPr>
              <a:t>Mengambil saldo awal langsung dari database Oracle 23c aktif.</a:t>
            </a:r>
          </a:p>
          <a:p>
            <a:pPr>
              <a:spcAft>
                <a:spcPts val="600"/>
              </a:spcAft>
            </a:pPr>
            <a:r>
              <a:rPr sz="1100" b="1">
                <a:solidFill>
                  <a:srgbClr val="F8FAFC"/>
                </a:solidFill>
                <a:latin typeface="Calibri"/>
              </a:rPr>
              <a:t>• Skenario 2 &amp; 3: Idempotensi: </a:t>
            </a:r>
            <a:r>
              <a:rPr sz="1100">
                <a:solidFill>
                  <a:srgbClr val="94A3B8"/>
                </a:solidFill>
                <a:latin typeface="Calibri"/>
              </a:rPr>
              <a:t>Melakukan transfer, lalu mengulang kunci yang sama persis untuk memverifikasi resi identik.</a:t>
            </a:r>
          </a:p>
          <a:p>
            <a:pPr>
              <a:spcAft>
                <a:spcPts val="600"/>
              </a:spcAft>
            </a:pPr>
            <a:r>
              <a:rPr sz="1100" b="1">
                <a:solidFill>
                  <a:srgbClr val="F8FAFC"/>
                </a:solidFill>
                <a:latin typeface="Calibri"/>
              </a:rPr>
              <a:t>• Skenario 4 &amp; 5: AML Kafka: </a:t>
            </a:r>
            <a:r>
              <a:rPr sz="1100">
                <a:solidFill>
                  <a:srgbClr val="94A3B8"/>
                </a:solidFill>
                <a:latin typeface="Calibri"/>
              </a:rPr>
              <a:t>Transfer Rp 150 Juta dan verifikasi event alert pada ticker stream Kafka live.</a:t>
            </a:r>
          </a:p>
          <a:p>
            <a:pPr>
              <a:spcAft>
                <a:spcPts val="600"/>
              </a:spcAft>
            </a:pPr>
            <a:r>
              <a:rPr sz="1100" b="1">
                <a:solidFill>
                  <a:srgbClr val="F8FAFC"/>
                </a:solidFill>
                <a:latin typeface="Calibri"/>
              </a:rPr>
              <a:t>• Skenario 6 &amp; 7: Audit Saldo: </a:t>
            </a:r>
            <a:r>
              <a:rPr sz="1100">
                <a:solidFill>
                  <a:srgbClr val="94A3B8"/>
                </a:solidFill>
                <a:latin typeface="Calibri"/>
              </a:rPr>
              <a:t>Verifikasi saldo mutasi jurnal debit/kredit dan penolakan 422 saat saldo kurang.</a:t>
            </a:r>
          </a:p>
        </p:txBody>
      </p:sp>
      <p:sp>
        <p:nvSpPr>
          <p:cNvPr id="13" name="Rounded Rectangle 12"/>
          <p:cNvSpPr/>
          <p:nvPr/>
        </p:nvSpPr>
        <p:spPr>
          <a:xfrm>
            <a:off x="731520" y="5486400"/>
            <a:ext cx="10698480" cy="822960"/>
          </a:xfrm>
          <a:prstGeom prst="roundRect">
            <a:avLst/>
          </a:prstGeom>
          <a:solidFill>
            <a:srgbClr val="1A2639"/>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latin typeface="Calibri"/>
              </a:defRPr>
            </a:pPr>
            <a:r>
              <a:t>🏆 STANDAR KUALITAS WAJIB: CAKUPAN &gt;= 95% DIENFORCE DALAM CI/CD</a:t>
            </a:r>
          </a:p>
          <a:p>
            <a:pPr>
              <a:defRPr sz="1200" b="1">
                <a:solidFill>
                  <a:srgbClr val="F8FAFC"/>
                </a:solidFill>
                <a:latin typeface="Calibri"/>
              </a:defRPr>
            </a:pPr>
            <a:r>
              <a:t>Hasil Terverifikasi: 70 Tes Berhasil • 99.27% Line Coverage (410/413) • 99.04% Instruction Coverage (1,652/1,668)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SITE RELIABILITY ENGINEERING</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Framework SRE Produksi, SLO, &amp; Telemetri Real-Time</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SLO &amp; Error Budget</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SLO Ketersediaan: </a:t>
            </a:r>
            <a:r>
              <a:rPr sz="1100">
                <a:solidFill>
                  <a:srgbClr val="94A3B8"/>
                </a:solidFill>
                <a:latin typeface="Calibri"/>
              </a:rPr>
              <a:t>&gt;= 99.99% (Empat Angka Sembilan) dihitung rolling 30 hari (anggaran downtime 4.32 menit/bulan).</a:t>
            </a:r>
          </a:p>
          <a:p>
            <a:pPr>
              <a:spcAft>
                <a:spcPts val="600"/>
              </a:spcAft>
            </a:pPr>
            <a:r>
              <a:rPr sz="1100" b="1">
                <a:solidFill>
                  <a:srgbClr val="F8FAFC"/>
                </a:solidFill>
                <a:latin typeface="Calibri"/>
              </a:rPr>
              <a:t>• SLO Latensi (p95): </a:t>
            </a:r>
            <a:r>
              <a:rPr sz="1100">
                <a:solidFill>
                  <a:srgbClr val="94A3B8"/>
                </a:solidFill>
                <a:latin typeface="Calibri"/>
              </a:rPr>
              <a:t>&lt;= 150 ms end-to-end waktu settlement transaksi.</a:t>
            </a:r>
          </a:p>
          <a:p>
            <a:pPr>
              <a:spcAft>
                <a:spcPts val="600"/>
              </a:spcAft>
            </a:pPr>
            <a:r>
              <a:rPr sz="1100" b="1">
                <a:solidFill>
                  <a:srgbClr val="F8FAFC"/>
                </a:solidFill>
                <a:latin typeface="Calibri"/>
              </a:rPr>
              <a:t>• SLO Latensi (p99): </a:t>
            </a:r>
            <a:r>
              <a:rPr sz="1100">
                <a:solidFill>
                  <a:srgbClr val="94A3B8"/>
                </a:solidFill>
                <a:latin typeface="Calibri"/>
              </a:rPr>
              <a:t>&lt;= 500 ms kasus terburuk termasuk waktu lock terdistribusi dan publikasi Kafka.</a:t>
            </a:r>
          </a:p>
          <a:p>
            <a:pPr>
              <a:spcAft>
                <a:spcPts val="600"/>
              </a:spcAft>
            </a:pPr>
            <a:r>
              <a:rPr sz="1100" b="1">
                <a:solidFill>
                  <a:srgbClr val="F8FAFC"/>
                </a:solidFill>
                <a:latin typeface="Calibri"/>
              </a:rPr>
              <a:t>• SLO Invariansi Buku Besar: </a:t>
            </a:r>
            <a:r>
              <a:rPr sz="1100">
                <a:solidFill>
                  <a:srgbClr val="94A3B8"/>
                </a:solidFill>
                <a:latin typeface="Calibri"/>
              </a:rPr>
              <a:t>Zero drift (|Debit - Kredit| == 0.00 IDR) dengan toleransi NOL (Hard Stop).</a:t>
            </a:r>
          </a:p>
          <a:p>
            <a:pPr>
              <a:spcAft>
                <a:spcPts val="600"/>
              </a:spcAft>
            </a:pPr>
            <a:r>
              <a:rPr sz="1100" b="1">
                <a:solidFill>
                  <a:srgbClr val="F8FAFC"/>
                </a:solidFill>
                <a:latin typeface="Calibri"/>
              </a:rPr>
              <a:t>• Multi-Burn Rate Alerting: </a:t>
            </a:r>
            <a:r>
              <a:rPr sz="1100">
                <a:solidFill>
                  <a:srgbClr val="94A3B8"/>
                </a:solidFill>
                <a:latin typeface="Calibri"/>
              </a:rPr>
              <a:t>Burn rate 1 jam &gt;= 14.4x memicu pager P1; deployment freeze otomatis jika budget sisa &lt; 10%.</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Empat Sinyal Emas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Latency: </a:t>
            </a:r>
            <a:r>
              <a:rPr sz="1100">
                <a:solidFill>
                  <a:srgbClr val="94A3B8"/>
                </a:solidFill>
                <a:latin typeface="Calibri"/>
              </a:rPr>
              <a:t>Histogram persentil (p50, p95, p99) dicatat per endpoint dan channel via Micrometer.</a:t>
            </a:r>
          </a:p>
          <a:p>
            <a:pPr>
              <a:spcAft>
                <a:spcPts val="600"/>
              </a:spcAft>
            </a:pPr>
            <a:r>
              <a:rPr sz="1100" b="1">
                <a:solidFill>
                  <a:srgbClr val="F8FAFC"/>
                </a:solidFill>
                <a:latin typeface="Calibri"/>
              </a:rPr>
              <a:t>• Traffic: </a:t>
            </a:r>
            <a:r>
              <a:rPr sz="1100">
                <a:solidFill>
                  <a:srgbClr val="94A3B8"/>
                </a:solidFill>
                <a:latin typeface="Calibri"/>
              </a:rPr>
              <a:t>Meteran throughput dan RPS real-time dipartisi berdasarkan mata uang dan status.</a:t>
            </a:r>
          </a:p>
          <a:p>
            <a:pPr>
              <a:spcAft>
                <a:spcPts val="600"/>
              </a:spcAft>
            </a:pPr>
            <a:r>
              <a:rPr sz="1100" b="1">
                <a:solidFill>
                  <a:srgbClr val="F8FAFC"/>
                </a:solidFill>
                <a:latin typeface="Calibri"/>
              </a:rPr>
              <a:t>• Errors: </a:t>
            </a:r>
            <a:r>
              <a:rPr sz="1100">
                <a:solidFill>
                  <a:srgbClr val="94A3B8"/>
                </a:solidFill>
                <a:latin typeface="Calibri"/>
              </a:rPr>
              <a:t>Memisahkan error 4xx validasi nasabah (tidak membakar error budget) dari error 5xx sistem server.</a:t>
            </a:r>
          </a:p>
          <a:p>
            <a:pPr>
              <a:spcAft>
                <a:spcPts val="600"/>
              </a:spcAft>
            </a:pPr>
            <a:r>
              <a:rPr sz="1100" b="1">
                <a:solidFill>
                  <a:srgbClr val="F8FAFC"/>
                </a:solidFill>
                <a:latin typeface="Calibri"/>
              </a:rPr>
              <a:t>• Saturation: </a:t>
            </a:r>
            <a:r>
              <a:rPr sz="1100">
                <a:solidFill>
                  <a:srgbClr val="94A3B8"/>
                </a:solidFill>
                <a:latin typeface="Calibri"/>
              </a:rPr>
              <a:t>Koneksi pending pool HikariCP, consumer group lag Kafka, dan memori ZGC.</a:t>
            </a:r>
          </a:p>
          <a:p>
            <a:pPr>
              <a:spcAft>
                <a:spcPts val="600"/>
              </a:spcAft>
            </a:pPr>
            <a:r>
              <a:rPr sz="1100" b="1">
                <a:solidFill>
                  <a:srgbClr val="F8FAFC"/>
                </a:solidFill>
                <a:latin typeface="Calibri"/>
              </a:rPr>
              <a:t>• Endpoint Live: </a:t>
            </a:r>
            <a:r>
              <a:rPr sz="1100">
                <a:solidFill>
                  <a:srgbClr val="94A3B8"/>
                </a:solidFill>
                <a:latin typeface="Calibri"/>
              </a:rPr>
              <a:t>Diekspos secara real-time di /actuator/prometheus untuk scraping monitoring.</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Alerting &amp; Autoscaling</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Aturan Alert Prometheus: </a:t>
            </a:r>
            <a:r>
              <a:rPr sz="1100">
                <a:solidFill>
                  <a:srgbClr val="94A3B8"/>
                </a:solidFill>
                <a:latin typeface="Calibri"/>
              </a:rPr>
              <a:t>monitoring/prometheus-alerts.yaml mendefinisikan peringatan untuk error 5xx, lonjakan latensi, dan kelaparan pool DB.</a:t>
            </a:r>
          </a:p>
          <a:p>
            <a:pPr>
              <a:spcAft>
                <a:spcPts val="600"/>
              </a:spcAft>
            </a:pPr>
            <a:r>
              <a:rPr sz="1100" b="1">
                <a:solidFill>
                  <a:srgbClr val="F8FAFC"/>
                </a:solidFill>
                <a:latin typeface="Calibri"/>
              </a:rPr>
              <a:t>• Kelaparan Pool Oracle: </a:t>
            </a:r>
            <a:r>
              <a:rPr sz="1100">
                <a:solidFill>
                  <a:srgbClr val="94A3B8"/>
                </a:solidFill>
                <a:latin typeface="Calibri"/>
              </a:rPr>
              <a:t>Memicu alert kritis saat hikaricp_connections_pending &gt; 0 selama lebih dari 30 detik.</a:t>
            </a:r>
          </a:p>
          <a:p>
            <a:pPr>
              <a:spcAft>
                <a:spcPts val="600"/>
              </a:spcAft>
            </a:pPr>
            <a:r>
              <a:rPr sz="1100" b="1">
                <a:solidFill>
                  <a:srgbClr val="F8FAFC"/>
                </a:solidFill>
                <a:latin typeface="Calibri"/>
              </a:rPr>
              <a:t>• Lag Consumer Kafka: </a:t>
            </a:r>
            <a:r>
              <a:rPr sz="1100">
                <a:solidFill>
                  <a:srgbClr val="94A3B8"/>
                </a:solidFill>
                <a:latin typeface="Calibri"/>
              </a:rPr>
              <a:t>Memicu alert peringatan saat antrean consumer fraud melebihi 500 pesan.</a:t>
            </a:r>
          </a:p>
          <a:p>
            <a:pPr>
              <a:spcAft>
                <a:spcPts val="600"/>
              </a:spcAft>
            </a:pPr>
            <a:r>
              <a:rPr sz="1100" b="1">
                <a:solidFill>
                  <a:srgbClr val="F8FAFC"/>
                </a:solidFill>
                <a:latin typeface="Calibri"/>
              </a:rPr>
              <a:t>• Kubernetes HPA: </a:t>
            </a:r>
            <a:r>
              <a:rPr sz="1100">
                <a:solidFill>
                  <a:srgbClr val="94A3B8"/>
                </a:solidFill>
                <a:latin typeface="Calibri"/>
              </a:rPr>
              <a:t>k8s/hpa.yaml mengotomatiskan penskalaan pod 1 hingga 5 replika berdasar utilisasi CPU 70% dan Memori 80%.</a:t>
            </a:r>
          </a:p>
          <a:p>
            <a:pPr>
              <a:spcAft>
                <a:spcPts val="600"/>
              </a:spcAft>
            </a:pPr>
            <a:r>
              <a:rPr sz="1100" b="1">
                <a:solidFill>
                  <a:srgbClr val="F8FAFC"/>
                </a:solidFill>
                <a:latin typeface="Calibri"/>
              </a:rPr>
              <a:t>• Runbook Insiden SOP: </a:t>
            </a:r>
            <a:r>
              <a:rPr sz="1100">
                <a:solidFill>
                  <a:srgbClr val="94A3B8"/>
                </a:solidFill>
                <a:latin typeface="Calibri"/>
              </a:rPr>
              <a:t>Dokumentasi SOP-01 sampai SOP-03 untuk panduan teknis penanganan insiden SRE on-call.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DEPLOYMENT &amp; REKAYASA RILIS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Deployment Blue-Green Zero-Downtime &amp; Domain Preview</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Proteksi Branch Utama</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Kunci Branch Main: </a:t>
            </a:r>
            <a:r>
              <a:rPr sz="1100">
                <a:solidFill>
                  <a:srgbClr val="94A3B8"/>
                </a:solidFill>
                <a:latin typeface="Calibri"/>
              </a:rPr>
              <a:t>Push langsung ke branch 'main' diblokir permanen dengan aturan enforce_admins: true.</a:t>
            </a:r>
          </a:p>
          <a:p>
            <a:pPr>
              <a:spcAft>
                <a:spcPts val="600"/>
              </a:spcAft>
            </a:pPr>
            <a:r>
              <a:rPr sz="1100" b="1">
                <a:solidFill>
                  <a:srgbClr val="F8FAFC"/>
                </a:solidFill>
                <a:latin typeface="Calibri"/>
              </a:rPr>
              <a:t>• Wajib Pull Request: </a:t>
            </a:r>
            <a:r>
              <a:rPr sz="1100">
                <a:solidFill>
                  <a:srgbClr val="94A3B8"/>
                </a:solidFill>
                <a:latin typeface="Calibri"/>
              </a:rPr>
              <a:t>Semua modifikasi kode wajib ditinjau dan digabungkan melalui proses PR.</a:t>
            </a:r>
          </a:p>
          <a:p>
            <a:pPr>
              <a:spcAft>
                <a:spcPts val="600"/>
              </a:spcAft>
            </a:pPr>
            <a:r>
              <a:rPr sz="1100" b="1">
                <a:solidFill>
                  <a:srgbClr val="F8FAFC"/>
                </a:solidFill>
                <a:latin typeface="Calibri"/>
              </a:rPr>
              <a:t>• Gerbang Kualitas 95%: </a:t>
            </a:r>
            <a:r>
              <a:rPr sz="1100">
                <a:solidFill>
                  <a:srgbClr val="94A3B8"/>
                </a:solidFill>
                <a:latin typeface="Calibri"/>
              </a:rPr>
              <a:t>Pengecekan CI 'Build &amp; Verify 95% Coverage Barrier' wajib berstatus hijau sebelum tombol merge terbuka.</a:t>
            </a:r>
          </a:p>
          <a:p>
            <a:pPr>
              <a:spcAft>
                <a:spcPts val="600"/>
              </a:spcAft>
            </a:pPr>
            <a:r>
              <a:rPr sz="1100" b="1">
                <a:solidFill>
                  <a:srgbClr val="F8FAFC"/>
                </a:solidFill>
                <a:latin typeface="Calibri"/>
              </a:rPr>
              <a:t>• Histori Git Bersih: </a:t>
            </a:r>
            <a:r>
              <a:rPr sz="1100">
                <a:solidFill>
                  <a:srgbClr val="94A3B8"/>
                </a:solidFill>
                <a:latin typeface="Calibri"/>
              </a:rPr>
              <a:t>Penerapan conventional commits (feat, fix, docs, chore) dengan histori linier.</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Domain Preview Fitur</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Lingkungan Staging Ephemeral: </a:t>
            </a:r>
            <a:r>
              <a:rPr sz="1100">
                <a:solidFill>
                  <a:srgbClr val="94A3B8"/>
                </a:solidFill>
                <a:latin typeface="Calibri"/>
              </a:rPr>
              <a:t>Push ke branch fitur apa pun otomatis memicu build kontainer preview.</a:t>
            </a:r>
          </a:p>
          <a:p>
            <a:pPr>
              <a:spcAft>
                <a:spcPts val="600"/>
              </a:spcAft>
            </a:pPr>
            <a:r>
              <a:rPr sz="1100" b="1">
                <a:solidFill>
                  <a:srgbClr val="F8FAFC"/>
                </a:solidFill>
                <a:latin typeface="Calibri"/>
              </a:rPr>
              <a:t>• Ingress Khusus: </a:t>
            </a:r>
            <a:r>
              <a:rPr sz="1100">
                <a:solidFill>
                  <a:srgbClr val="94A3B8"/>
                </a:solidFill>
                <a:latin typeface="Calibri"/>
              </a:rPr>
              <a:t>Dideploy ke pod indibank-core-preview, dapat diakses publik di https://test.indibank.aldianapps.com.</a:t>
            </a:r>
          </a:p>
          <a:p>
            <a:pPr>
              <a:spcAft>
                <a:spcPts val="600"/>
              </a:spcAft>
            </a:pPr>
            <a:r>
              <a:rPr sz="1100" b="1">
                <a:solidFill>
                  <a:srgbClr val="F8FAFC"/>
                </a:solidFill>
                <a:latin typeface="Calibri"/>
              </a:rPr>
              <a:t>• Verifikasi QA &amp; Stakeholder: </a:t>
            </a:r>
            <a:r>
              <a:rPr sz="1100">
                <a:solidFill>
                  <a:srgbClr val="94A3B8"/>
                </a:solidFill>
                <a:latin typeface="Calibri"/>
              </a:rPr>
              <a:t>Memungkinkan pengetesan manual dan otomatis di lingkungan nyata sebelum merge.</a:t>
            </a:r>
          </a:p>
          <a:p>
            <a:pPr>
              <a:spcAft>
                <a:spcPts val="600"/>
              </a:spcAft>
            </a:pPr>
            <a:r>
              <a:rPr sz="1100" b="1">
                <a:solidFill>
                  <a:srgbClr val="F8FAFC"/>
                </a:solidFill>
                <a:latin typeface="Calibri"/>
              </a:rPr>
              <a:t>• Nol Dampak Produksi: </a:t>
            </a:r>
            <a:r>
              <a:rPr sz="1100">
                <a:solidFill>
                  <a:srgbClr val="94A3B8"/>
                </a:solidFill>
                <a:latin typeface="Calibri"/>
              </a:rPr>
              <a:t>Isolasi pod mencegah pengujian fitur baru mengganggu transaksi nasabah live.</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Blue-Green Produksi</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Deployment Kembar: </a:t>
            </a:r>
            <a:r>
              <a:rPr sz="1100">
                <a:solidFill>
                  <a:srgbClr val="94A3B8"/>
                </a:solidFill>
                <a:latin typeface="Calibri"/>
              </a:rPr>
              <a:t>Dua deployment produksi identik: indibank-core-blue dan indibank-core-green.</a:t>
            </a:r>
          </a:p>
          <a:p>
            <a:pPr>
              <a:spcAft>
                <a:spcPts val="600"/>
              </a:spcAft>
            </a:pPr>
            <a:r>
              <a:rPr sz="1100" b="1">
                <a:solidFill>
                  <a:srgbClr val="F8FAFC"/>
                </a:solidFill>
                <a:latin typeface="Calibri"/>
              </a:rPr>
              <a:t>• Kesiapan Atomik: </a:t>
            </a:r>
            <a:r>
              <a:rPr sz="1100">
                <a:solidFill>
                  <a:srgbClr val="94A3B8"/>
                </a:solidFill>
                <a:latin typeface="Calibri"/>
              </a:rPr>
              <a:t>Slot standby dinaikkan ke 1 replika; CI/CD memverifikasi rollout status sebelum switch.</a:t>
            </a:r>
          </a:p>
          <a:p>
            <a:pPr>
              <a:spcAft>
                <a:spcPts val="600"/>
              </a:spcAft>
            </a:pPr>
            <a:r>
              <a:rPr sz="1100" b="1">
                <a:solidFill>
                  <a:srgbClr val="F8FAFC"/>
                </a:solidFill>
                <a:latin typeface="Calibri"/>
              </a:rPr>
              <a:t>• Pengalihan Trafik Instan: </a:t>
            </a:r>
            <a:r>
              <a:rPr sz="1100">
                <a:solidFill>
                  <a:srgbClr val="94A3B8"/>
                </a:solidFill>
                <a:latin typeface="Calibri"/>
              </a:rPr>
              <a:t>Satu perintah patch selector Service Kubernetes mengalihkan trafik seketika.</a:t>
            </a:r>
          </a:p>
          <a:p>
            <a:pPr>
              <a:spcAft>
                <a:spcPts val="600"/>
              </a:spcAft>
            </a:pPr>
            <a:r>
              <a:rPr sz="1100" b="1">
                <a:solidFill>
                  <a:srgbClr val="F8FAFC"/>
                </a:solidFill>
                <a:latin typeface="Calibri"/>
              </a:rPr>
              <a:t>• Rollback Sub-Detik: </a:t>
            </a:r>
            <a:r>
              <a:rPr sz="1100">
                <a:solidFill>
                  <a:srgbClr val="94A3B8"/>
                </a:solidFill>
                <a:latin typeface="Calibri"/>
              </a:rPr>
              <a:t>Jika terjadi anomali pasca-rilis, pengembalian ke slot lama berlangsung dalam waktu &lt; 1 detik.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ARSITEKTUR CLOUD MULTI-PLATFORM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Portabilitas Lintas GCP, AWS, Azure, OpenShift, &amp; Lokal</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Matriks Portabilitas Cloud &amp; On-Premise</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Google Cloud (GKE): </a:t>
            </a:r>
            <a:r>
              <a:rPr sz="1100">
                <a:solidFill>
                  <a:srgbClr val="94A3B8"/>
                </a:solidFill>
                <a:latin typeface="Calibri"/>
              </a:rPr>
              <a:t>Target produksi live di region Jakarta (asia-southeast2). Dikelola otomatis via Terraform IaC.</a:t>
            </a:r>
          </a:p>
          <a:p>
            <a:pPr>
              <a:spcAft>
                <a:spcPts val="600"/>
              </a:spcAft>
            </a:pPr>
            <a:r>
              <a:rPr sz="1100" b="1">
                <a:solidFill>
                  <a:srgbClr val="F8FAFC"/>
                </a:solidFill>
                <a:latin typeface="Calibri"/>
              </a:rPr>
              <a:t>• Amazon Web Services (EKS): </a:t>
            </a:r>
            <a:r>
              <a:rPr sz="1100">
                <a:solidFill>
                  <a:srgbClr val="94A3B8"/>
                </a:solidFill>
                <a:latin typeface="Calibri"/>
              </a:rPr>
              <a:t>Dapat dideploy langsung menggunakan Helm chart dengan AWS Load Balancer Controller dan RDS Oracle.</a:t>
            </a:r>
          </a:p>
          <a:p>
            <a:pPr>
              <a:spcAft>
                <a:spcPts val="600"/>
              </a:spcAft>
            </a:pPr>
            <a:r>
              <a:rPr sz="1100" b="1">
                <a:solidFill>
                  <a:srgbClr val="F8FAFC"/>
                </a:solidFill>
                <a:latin typeface="Calibri"/>
              </a:rPr>
              <a:t>• Microsoft Azure (AKS): </a:t>
            </a:r>
            <a:r>
              <a:rPr sz="1100">
                <a:solidFill>
                  <a:srgbClr val="94A3B8"/>
                </a:solidFill>
                <a:latin typeface="Calibri"/>
              </a:rPr>
              <a:t>Mendukung deployment AKS dengan Azure Application Gateway Ingress dan Azure Managed Disks.</a:t>
            </a:r>
          </a:p>
          <a:p>
            <a:pPr>
              <a:spcAft>
                <a:spcPts val="600"/>
              </a:spcAft>
            </a:pPr>
            <a:r>
              <a:rPr sz="1100" b="1">
                <a:solidFill>
                  <a:srgbClr val="F8FAFC"/>
                </a:solidFill>
                <a:latin typeface="Calibri"/>
              </a:rPr>
              <a:t>• Red Hat OpenShift: </a:t>
            </a:r>
            <a:r>
              <a:rPr sz="1100">
                <a:solidFill>
                  <a:srgbClr val="94A3B8"/>
                </a:solidFill>
                <a:latin typeface="Calibri"/>
              </a:rPr>
              <a:t>Mendukung lingkungan perbankan on-premise dengan OpenShift Security Context Constraints (SCC) dan Routes.</a:t>
            </a:r>
          </a:p>
          <a:p>
            <a:pPr>
              <a:spcAft>
                <a:spcPts val="600"/>
              </a:spcAft>
            </a:pPr>
            <a:r>
              <a:rPr sz="1100" b="1">
                <a:solidFill>
                  <a:srgbClr val="F8FAFC"/>
                </a:solidFill>
                <a:latin typeface="Calibri"/>
              </a:rPr>
              <a:t>• Minikube / Kind Lokal: </a:t>
            </a:r>
            <a:r>
              <a:rPr sz="1100">
                <a:solidFill>
                  <a:srgbClr val="94A3B8"/>
                </a:solidFill>
                <a:latin typeface="Calibri"/>
              </a:rPr>
              <a:t>Lingkungan offline lengkap untuk kebutuhan pengembangan lokal via helm/indibank/values-local.yaml.</a:t>
            </a:r>
          </a:p>
          <a:p>
            <a:pPr>
              <a:spcAft>
                <a:spcPts val="600"/>
              </a:spcAft>
            </a:pPr>
            <a:r>
              <a:rPr sz="1100" b="1">
                <a:solidFill>
                  <a:srgbClr val="F8FAFC"/>
                </a:solidFill>
                <a:latin typeface="Calibri"/>
              </a:rPr>
              <a:t>• Panduan Deployment Lengkap: </a:t>
            </a:r>
            <a:r>
              <a:rPr sz="1100">
                <a:solidFill>
                  <a:srgbClr val="94A3B8"/>
                </a:solidFill>
                <a:latin typeface="Calibri"/>
              </a:rPr>
              <a:t>Didokumentasikan rinci di docs/deployment/MULTI_PLATFORM.md dengan langkah operasional.</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10B981"/>
                </a:solidFill>
                <a:latin typeface="Calibri"/>
              </a:defRPr>
            </a:pPr>
            <a:r>
              <a:t>Helm Chart Produksi &amp; Pengerasan Kontainer</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Helm Chart Enterprise: </a:t>
            </a:r>
            <a:r>
              <a:rPr sz="1100">
                <a:solidFill>
                  <a:srgbClr val="94A3B8"/>
                </a:solidFill>
                <a:latin typeface="Calibri"/>
              </a:rPr>
              <a:t>helm/indibank/ menyediakan konfigurasi parameter terpadu untuk dev, preview, dan produksi.</a:t>
            </a:r>
          </a:p>
          <a:p>
            <a:pPr>
              <a:spcAft>
                <a:spcPts val="600"/>
              </a:spcAft>
            </a:pPr>
            <a:r>
              <a:rPr sz="1100" b="1">
                <a:solidFill>
                  <a:srgbClr val="F8FAFC"/>
                </a:solidFill>
                <a:latin typeface="Calibri"/>
              </a:rPr>
              <a:t>• Keamanan Kontainer Ketat: </a:t>
            </a:r>
            <a:r>
              <a:rPr sz="1100">
                <a:solidFill>
                  <a:srgbClr val="94A3B8"/>
                </a:solidFill>
                <a:latin typeface="Calibri"/>
              </a:rPr>
              <a:t>Berjalan sebagai non-root unprivileged user (UID 10001) berbasis image ringan distroless.</a:t>
            </a:r>
          </a:p>
          <a:p>
            <a:pPr>
              <a:spcAft>
                <a:spcPts val="600"/>
              </a:spcAft>
            </a:pPr>
            <a:r>
              <a:rPr sz="1100" b="1">
                <a:solidFill>
                  <a:srgbClr val="F8FAFC"/>
                </a:solidFill>
                <a:latin typeface="Calibri"/>
              </a:rPr>
              <a:t>• Alokasi Kuota Sumber Daya: </a:t>
            </a:r>
            <a:r>
              <a:rPr sz="1100">
                <a:solidFill>
                  <a:srgbClr val="94A3B8"/>
                </a:solidFill>
                <a:latin typeface="Calibri"/>
              </a:rPr>
              <a:t>Batas alokasi kuota CPU dan Memori (requests &amp; limits) yang ketat mencegah kelaparan resource.</a:t>
            </a:r>
          </a:p>
          <a:p>
            <a:pPr>
              <a:spcAft>
                <a:spcPts val="600"/>
              </a:spcAft>
            </a:pPr>
            <a:r>
              <a:rPr sz="1100" b="1">
                <a:solidFill>
                  <a:srgbClr val="F8FAFC"/>
                </a:solidFill>
                <a:latin typeface="Calibri"/>
              </a:rPr>
              <a:t>• ConfigMap &amp; Secret Eksternal: </a:t>
            </a:r>
            <a:r>
              <a:rPr sz="1100">
                <a:solidFill>
                  <a:srgbClr val="94A3B8"/>
                </a:solidFill>
                <a:latin typeface="Calibri"/>
              </a:rPr>
              <a:t>Pemisahan tegas antara variabel lingkungan kredensial dan artefak build aplikasi.</a:t>
            </a:r>
          </a:p>
          <a:p>
            <a:pPr>
              <a:spcAft>
                <a:spcPts val="600"/>
              </a:spcAft>
            </a:pPr>
            <a:r>
              <a:rPr sz="1100" b="1">
                <a:solidFill>
                  <a:srgbClr val="F8FAFC"/>
                </a:solidFill>
                <a:latin typeface="Calibri"/>
              </a:rPr>
              <a:t>• Probe Kesehatan Otomatis: </a:t>
            </a:r>
            <a:r>
              <a:rPr sz="1100">
                <a:solidFill>
                  <a:srgbClr val="94A3B8"/>
                </a:solidFill>
                <a:latin typeface="Calibri"/>
              </a:rPr>
              <a:t>Liveness dan readiness probe otomatis di /actuator/health untuk auto-healing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DEMONSTRASI LANGSUNG &amp; KESIMPULAN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Verifikasi Produksi Langsung &amp; Rangkuman Eksekutif</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Endpoint Produksi Aktif</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Dashboard Perbankan: </a:t>
            </a:r>
            <a:r>
              <a:rPr sz="1100">
                <a:solidFill>
                  <a:srgbClr val="94A3B8"/>
                </a:solidFill>
                <a:latin typeface="Calibri"/>
              </a:rPr>
              <a:t>https://indibank.aldianapps.com (Simulasi transfer interaktif dan inquiry saldo live).</a:t>
            </a:r>
          </a:p>
          <a:p>
            <a:pPr>
              <a:spcAft>
                <a:spcPts val="600"/>
              </a:spcAft>
            </a:pPr>
            <a:r>
              <a:rPr sz="1100" b="1">
                <a:solidFill>
                  <a:srgbClr val="F8FAFC"/>
                </a:solidFill>
                <a:latin typeface="Calibri"/>
              </a:rPr>
              <a:t>• Domain Uji Preview: </a:t>
            </a:r>
            <a:r>
              <a:rPr sz="1100">
                <a:solidFill>
                  <a:srgbClr val="94A3B8"/>
                </a:solidFill>
                <a:latin typeface="Calibri"/>
              </a:rPr>
              <a:t>https://test.indibank.aldianapps.com (Lingkungan uji fitur branch).</a:t>
            </a:r>
          </a:p>
          <a:p>
            <a:pPr>
              <a:spcAft>
                <a:spcPts val="600"/>
              </a:spcAft>
            </a:pPr>
            <a:r>
              <a:rPr sz="1100" b="1">
                <a:solidFill>
                  <a:srgbClr val="F8FAFC"/>
                </a:solidFill>
                <a:latin typeface="Calibri"/>
              </a:rPr>
              <a:t>• Swagger / OpenAPI UI: </a:t>
            </a:r>
            <a:r>
              <a:rPr sz="1100">
                <a:solidFill>
                  <a:srgbClr val="94A3B8"/>
                </a:solidFill>
                <a:latin typeface="Calibri"/>
              </a:rPr>
              <a:t>https://indibank.aldianapps.com/swagger-ui.html (Penjelajah kontrak interaktif).</a:t>
            </a:r>
          </a:p>
          <a:p>
            <a:pPr>
              <a:spcAft>
                <a:spcPts val="600"/>
              </a:spcAft>
            </a:pPr>
            <a:r>
              <a:rPr sz="1100" b="1">
                <a:solidFill>
                  <a:srgbClr val="F8FAFC"/>
                </a:solidFill>
                <a:latin typeface="Calibri"/>
              </a:rPr>
              <a:t>• Telemetri Prometheus: </a:t>
            </a:r>
            <a:r>
              <a:rPr sz="1100">
                <a:solidFill>
                  <a:srgbClr val="94A3B8"/>
                </a:solidFill>
                <a:latin typeface="Calibri"/>
              </a:rPr>
              <a:t>https://indibank.aldianapps.com/actuator/prometheus (Metrik operasional real-time).</a:t>
            </a:r>
          </a:p>
          <a:p>
            <a:pPr>
              <a:spcAft>
                <a:spcPts val="600"/>
              </a:spcAft>
            </a:pPr>
            <a:r>
              <a:rPr sz="1100" b="1">
                <a:solidFill>
                  <a:srgbClr val="F8FAFC"/>
                </a:solidFill>
                <a:latin typeface="Calibri"/>
              </a:rPr>
              <a:t>• Repositori GitHub: </a:t>
            </a:r>
            <a:r>
              <a:rPr sz="1100">
                <a:solidFill>
                  <a:srgbClr val="94A3B8"/>
                </a:solidFill>
                <a:latin typeface="Calibri"/>
              </a:rPr>
              <a:t>Repositori privat dengan branch protection dan automasi CI/CD.</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10B981"/>
                </a:solidFill>
                <a:latin typeface="Calibri"/>
              </a:defRPr>
            </a:pPr>
            <a:r>
              <a:t>Hasil Verifikasi Live (7/7)</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Skenario 1: Query Akun: </a:t>
            </a:r>
            <a:r>
              <a:rPr sz="1100">
                <a:solidFill>
                  <a:srgbClr val="94A3B8"/>
                </a:solidFill>
                <a:latin typeface="Calibri"/>
              </a:rPr>
              <a:t>LULUS - Rekening aktif berhasil diambil langsung dari Oracle DB.</a:t>
            </a:r>
          </a:p>
          <a:p>
            <a:pPr>
              <a:spcAft>
                <a:spcPts val="600"/>
              </a:spcAft>
            </a:pPr>
            <a:r>
              <a:rPr sz="1100" b="1">
                <a:solidFill>
                  <a:srgbClr val="F8FAFC"/>
                </a:solidFill>
                <a:latin typeface="Calibri"/>
              </a:rPr>
              <a:t>• Skenario 2: Transfer Antarbank: </a:t>
            </a:r>
            <a:r>
              <a:rPr sz="1100">
                <a:solidFill>
                  <a:srgbClr val="94A3B8"/>
                </a:solidFill>
                <a:latin typeface="Calibri"/>
              </a:rPr>
              <a:t>LULUS - Settlement real-time dengan nomor referensi unik.</a:t>
            </a:r>
          </a:p>
          <a:p>
            <a:pPr>
              <a:spcAft>
                <a:spcPts val="600"/>
              </a:spcAft>
            </a:pPr>
            <a:r>
              <a:rPr sz="1100" b="1">
                <a:solidFill>
                  <a:srgbClr val="F8FAFC"/>
                </a:solidFill>
                <a:latin typeface="Calibri"/>
              </a:rPr>
              <a:t>• Skenario 3: Replay Idempotensi: </a:t>
            </a:r>
            <a:r>
              <a:rPr sz="1100">
                <a:solidFill>
                  <a:srgbClr val="94A3B8"/>
                </a:solidFill>
                <a:latin typeface="Calibri"/>
              </a:rPr>
              <a:t>LULUS - Resi cache identik dikembalikan tanpa pemotongan saldo ganda.</a:t>
            </a:r>
          </a:p>
          <a:p>
            <a:pPr>
              <a:spcAft>
                <a:spcPts val="600"/>
              </a:spcAft>
            </a:pPr>
            <a:r>
              <a:rPr sz="1100" b="1">
                <a:solidFill>
                  <a:srgbClr val="F8FAFC"/>
                </a:solidFill>
                <a:latin typeface="Calibri"/>
              </a:rPr>
              <a:t>• Skenario 4: AML Nilai Tinggi: </a:t>
            </a:r>
            <a:r>
              <a:rPr sz="1100">
                <a:solidFill>
                  <a:srgbClr val="94A3B8"/>
                </a:solidFill>
                <a:latin typeface="Calibri"/>
              </a:rPr>
              <a:t>LULUS - Transfer Rp 150 Juta memicu alert fraud Kafka.</a:t>
            </a:r>
          </a:p>
          <a:p>
            <a:pPr>
              <a:spcAft>
                <a:spcPts val="600"/>
              </a:spcAft>
            </a:pPr>
            <a:r>
              <a:rPr sz="1100" b="1">
                <a:solidFill>
                  <a:srgbClr val="F8FAFC"/>
                </a:solidFill>
                <a:latin typeface="Calibri"/>
              </a:rPr>
              <a:t>• Skenario 5: Ticker Stream: </a:t>
            </a:r>
            <a:r>
              <a:rPr sz="1100">
                <a:solidFill>
                  <a:srgbClr val="94A3B8"/>
                </a:solidFill>
                <a:latin typeface="Calibri"/>
              </a:rPr>
              <a:t>LULUS - Topic Kafka terverifikasi via API recent events.</a:t>
            </a:r>
          </a:p>
          <a:p>
            <a:pPr>
              <a:spcAft>
                <a:spcPts val="600"/>
              </a:spcAft>
            </a:pPr>
            <a:r>
              <a:rPr sz="1100" b="1">
                <a:solidFill>
                  <a:srgbClr val="F8FAFC"/>
                </a:solidFill>
                <a:latin typeface="Calibri"/>
              </a:rPr>
              <a:t>• Skenario 6: Audit Buku Besar: </a:t>
            </a:r>
            <a:r>
              <a:rPr sz="1100">
                <a:solidFill>
                  <a:srgbClr val="94A3B8"/>
                </a:solidFill>
                <a:latin typeface="Calibri"/>
              </a:rPr>
              <a:t>LULUS - Baris jurnal DEBIT dan KREDIT terbukti seimbang.</a:t>
            </a:r>
          </a:p>
          <a:p>
            <a:pPr>
              <a:spcAft>
                <a:spcPts val="600"/>
              </a:spcAft>
            </a:pPr>
            <a:r>
              <a:rPr sz="1100" b="1">
                <a:solidFill>
                  <a:srgbClr val="F8FAFC"/>
                </a:solidFill>
                <a:latin typeface="Calibri"/>
              </a:rPr>
              <a:t>• Skenario 7: Proteksi Saldo: </a:t>
            </a:r>
            <a:r>
              <a:rPr sz="1100">
                <a:solidFill>
                  <a:srgbClr val="94A3B8"/>
                </a:solidFill>
                <a:latin typeface="Calibri"/>
              </a:rPr>
              <a:t>LULUS - Saldo kurang ditolak aman dengan format error RFC 7807.</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F59E0B"/>
                </a:solidFill>
                <a:latin typeface="Calibri"/>
              </a:defRPr>
            </a:pPr>
            <a:r>
              <a:t>Rangkuman Eksekutif</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Integritas Finansial: </a:t>
            </a:r>
            <a:r>
              <a:rPr sz="1100">
                <a:solidFill>
                  <a:srgbClr val="94A3B8"/>
                </a:solidFill>
                <a:latin typeface="Calibri"/>
              </a:rPr>
              <a:t>Invariansi buku besar Zero-Loss dengan pembukuan berpasangan dan constraint ketat.</a:t>
            </a:r>
          </a:p>
          <a:p>
            <a:pPr>
              <a:spcAft>
                <a:spcPts val="600"/>
              </a:spcAft>
            </a:pPr>
            <a:r>
              <a:rPr sz="1100" b="1">
                <a:solidFill>
                  <a:srgbClr val="F8FAFC"/>
                </a:solidFill>
                <a:latin typeface="Calibri"/>
              </a:rPr>
              <a:t>• Defensive Concurrency: </a:t>
            </a:r>
            <a:r>
              <a:rPr sz="1100">
                <a:solidFill>
                  <a:srgbClr val="94A3B8"/>
                </a:solidFill>
                <a:latin typeface="Calibri"/>
              </a:rPr>
              <a:t>Mesin idempotensi dan locking terdistribusi menghilangkan risiko double-spending.</a:t>
            </a:r>
          </a:p>
          <a:p>
            <a:pPr>
              <a:spcAft>
                <a:spcPts val="600"/>
              </a:spcAft>
            </a:pPr>
            <a:r>
              <a:rPr sz="1100" b="1">
                <a:solidFill>
                  <a:srgbClr val="F8FAFC"/>
                </a:solidFill>
                <a:latin typeface="Calibri"/>
              </a:rPr>
              <a:t>• Streaming Throughput Tinggi: </a:t>
            </a:r>
            <a:r>
              <a:rPr sz="1100">
                <a:solidFill>
                  <a:srgbClr val="94A3B8"/>
                </a:solidFill>
                <a:latin typeface="Calibri"/>
              </a:rPr>
              <a:t>Pemisahan asinkron Kafka KRaft dan deteksi fraud AML real-time.</a:t>
            </a:r>
          </a:p>
          <a:p>
            <a:pPr>
              <a:spcAft>
                <a:spcPts val="600"/>
              </a:spcAft>
            </a:pPr>
            <a:r>
              <a:rPr sz="1100" b="1">
                <a:solidFill>
                  <a:srgbClr val="F8FAFC"/>
                </a:solidFill>
                <a:latin typeface="Calibri"/>
              </a:rPr>
              <a:t>• Operasional Zero-Downtime: </a:t>
            </a:r>
            <a:r>
              <a:rPr sz="1100">
                <a:solidFill>
                  <a:srgbClr val="94A3B8"/>
                </a:solidFill>
                <a:latin typeface="Calibri"/>
              </a:rPr>
              <a:t>Rilis Blue-Green dengan rollback sub-detik dan barrier pengujian 95%.</a:t>
            </a:r>
          </a:p>
          <a:p>
            <a:pPr>
              <a:spcAft>
                <a:spcPts val="600"/>
              </a:spcAft>
            </a:pPr>
            <a:r>
              <a:rPr sz="1100" b="1">
                <a:solidFill>
                  <a:srgbClr val="F8FAFC"/>
                </a:solidFill>
                <a:latin typeface="Calibri"/>
              </a:rPr>
              <a:t>• Siap Produksi Penuh: </a:t>
            </a:r>
            <a:r>
              <a:rPr sz="1100">
                <a:solidFill>
                  <a:srgbClr val="94A3B8"/>
                </a:solidFill>
                <a:latin typeface="Calibri"/>
              </a:rPr>
              <a:t>Platform transaksi core banking yang fungsional, teruji, dan telah dideploy secara nyata.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